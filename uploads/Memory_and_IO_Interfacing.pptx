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0" r:id="rId15"/>
    <p:sldId id="269" r:id="rId16"/>
    <p:sldId id="268" r:id="rId17"/>
    <p:sldId id="273" r:id="rId18"/>
    <p:sldId id="274" r:id="rId19"/>
    <p:sldId id="286" r:id="rId20"/>
    <p:sldId id="272" r:id="rId21"/>
    <p:sldId id="275" r:id="rId22"/>
    <p:sldId id="276" r:id="rId23"/>
    <p:sldId id="282" r:id="rId24"/>
    <p:sldId id="285" r:id="rId25"/>
    <p:sldId id="281" r:id="rId26"/>
    <p:sldId id="278" r:id="rId27"/>
    <p:sldId id="279" r:id="rId28"/>
    <p:sldId id="283" r:id="rId29"/>
    <p:sldId id="287" r:id="rId30"/>
    <p:sldId id="291" r:id="rId31"/>
    <p:sldId id="288" r:id="rId32"/>
    <p:sldId id="290" r:id="rId33"/>
    <p:sldId id="289" r:id="rId34"/>
    <p:sldId id="284" r:id="rId35"/>
    <p:sldId id="29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E84F54F-9D65-4CA5-9803-B5ABB7AEB545}">
          <p14:sldIdLst>
            <p14:sldId id="256"/>
            <p14:sldId id="257"/>
            <p14:sldId id="258"/>
            <p14:sldId id="259"/>
            <p14:sldId id="260"/>
            <p14:sldId id="261"/>
            <p14:sldId id="262"/>
            <p14:sldId id="263"/>
            <p14:sldId id="264"/>
            <p14:sldId id="265"/>
            <p14:sldId id="266"/>
            <p14:sldId id="267"/>
            <p14:sldId id="271"/>
            <p14:sldId id="270"/>
            <p14:sldId id="269"/>
            <p14:sldId id="268"/>
            <p14:sldId id="273"/>
            <p14:sldId id="274"/>
            <p14:sldId id="286"/>
            <p14:sldId id="272"/>
            <p14:sldId id="275"/>
            <p14:sldId id="276"/>
            <p14:sldId id="282"/>
            <p14:sldId id="285"/>
            <p14:sldId id="281"/>
            <p14:sldId id="278"/>
            <p14:sldId id="279"/>
            <p14:sldId id="283"/>
            <p14:sldId id="287"/>
            <p14:sldId id="291"/>
            <p14:sldId id="288"/>
            <p14:sldId id="290"/>
            <p14:sldId id="289"/>
            <p14:sldId id="284"/>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62" autoAdjust="0"/>
    <p:restoredTop sz="94660"/>
  </p:normalViewPr>
  <p:slideViewPr>
    <p:cSldViewPr snapToGrid="0">
      <p:cViewPr varScale="1">
        <p:scale>
          <a:sx n="70" d="100"/>
          <a:sy n="70" d="100"/>
        </p:scale>
        <p:origin x="75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pic>
        <p:nvPicPr>
          <p:cNvPr id="4" name="Picture 2" descr="C:\Users\Ours\Desktop\flash\c.u..jpg"/>
          <p:cNvPicPr>
            <a:picLocks noChangeAspect="1" noChangeArrowheads="1"/>
          </p:cNvPicPr>
          <p:nvPr/>
        </p:nvPicPr>
        <p:blipFill>
          <a:blip r:embed="rId2" cstate="print">
            <a:duotone>
              <a:prstClr val="black"/>
              <a:srgbClr val="800080">
                <a:alpha val="78824"/>
                <a:tint val="45000"/>
                <a:satMod val="400000"/>
              </a:srgbClr>
            </a:duotone>
          </a:blip>
          <a:srcRect t="-169" b="15477"/>
          <a:stretch>
            <a:fillRect/>
          </a:stretch>
        </p:blipFill>
        <p:spPr bwMode="auto">
          <a:xfrm>
            <a:off x="2" y="-54768"/>
            <a:ext cx="12278750" cy="6912768"/>
          </a:xfrm>
          <a:prstGeom prst="rect">
            <a:avLst/>
          </a:prstGeom>
          <a:noFill/>
        </p:spPr>
      </p:pic>
      <p:pic>
        <p:nvPicPr>
          <p:cNvPr id="5" name="Picture 2" descr="C:\Users\Ours\Desktop\my stuffs\1 NTFS_000\LostFiles2\INSPIRATION\PROJECTS\MIND PROJECTS\cu_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156" y="569913"/>
            <a:ext cx="74275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a:spLocks noChangeArrowheads="1"/>
          </p:cNvSpPr>
          <p:nvPr/>
        </p:nvSpPr>
        <p:spPr bwMode="auto">
          <a:xfrm>
            <a:off x="9000369" y="0"/>
            <a:ext cx="3231309"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en-US" altLang="en-US" sz="1799" dirty="0">
                <a:solidFill>
                  <a:prstClr val="black"/>
                </a:solidFill>
              </a:rPr>
              <a:t>www.covenantuniversity.edu.ng</a:t>
            </a:r>
            <a:endParaRPr lang="en-GB" altLang="en-US" sz="1799" dirty="0">
              <a:solidFill>
                <a:prstClr val="black"/>
              </a:solidFill>
            </a:endParaRPr>
          </a:p>
        </p:txBody>
      </p:sp>
      <p:pic>
        <p:nvPicPr>
          <p:cNvPr id="7" name="Picture 2" descr="C:\Users\Ours\Desktop\Picture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4263" y="569914"/>
            <a:ext cx="4607312" cy="74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1633113" y="1074739"/>
            <a:ext cx="32186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en-US" altLang="en-US" sz="1600" dirty="0">
                <a:solidFill>
                  <a:srgbClr val="662C5B"/>
                </a:solidFill>
              </a:rPr>
              <a:t>Raising a new Generation of Leaders</a:t>
            </a:r>
            <a:endParaRPr lang="en-GB" altLang="en-US" sz="1600" dirty="0">
              <a:solidFill>
                <a:srgbClr val="662C5B"/>
              </a:solidFill>
            </a:endParaRPr>
          </a:p>
        </p:txBody>
      </p:sp>
      <p:sp>
        <p:nvSpPr>
          <p:cNvPr id="2" name="Title 1"/>
          <p:cNvSpPr>
            <a:spLocks noGrp="1"/>
          </p:cNvSpPr>
          <p:nvPr>
            <p:ph type="ctrTitle"/>
          </p:nvPr>
        </p:nvSpPr>
        <p:spPr>
          <a:xfrm>
            <a:off x="914165" y="1844829"/>
            <a:ext cx="10363676" cy="2448271"/>
          </a:xfrm>
          <a:solidFill>
            <a:srgbClr val="660033">
              <a:alpha val="61961"/>
            </a:srgbClr>
          </a:solidFill>
        </p:spPr>
        <p:txBody>
          <a:bodyPr>
            <a:noAutofit/>
          </a:bodyPr>
          <a:lstStyle>
            <a:lvl1pPr>
              <a:defRPr sz="5398" b="0">
                <a:solidFill>
                  <a:schemeClr val="bg1"/>
                </a:solidFill>
                <a:latin typeface="Rockwell" pitchFamily="18" charset="0"/>
              </a:defRPr>
            </a:lvl1pPr>
          </a:lstStyle>
          <a:p>
            <a:r>
              <a:rPr lang="en-US"/>
              <a:t>Click to edit Master title style</a:t>
            </a:r>
            <a:endParaRPr lang="en-GB" dirty="0"/>
          </a:p>
        </p:txBody>
      </p:sp>
      <p:sp>
        <p:nvSpPr>
          <p:cNvPr id="3" name="Subtitle 2"/>
          <p:cNvSpPr>
            <a:spLocks noGrp="1"/>
          </p:cNvSpPr>
          <p:nvPr>
            <p:ph type="subTitle" idx="1"/>
          </p:nvPr>
        </p:nvSpPr>
        <p:spPr>
          <a:xfrm>
            <a:off x="1828324" y="4509120"/>
            <a:ext cx="8535352" cy="1752600"/>
          </a:xfrm>
          <a:solidFill>
            <a:srgbClr val="FFFFFF">
              <a:alpha val="74118"/>
            </a:srgbClr>
          </a:solidFill>
        </p:spPr>
        <p:txBody>
          <a:bodyPr>
            <a:normAutofit/>
          </a:bodyPr>
          <a:lstStyle>
            <a:lvl1pPr marL="0" indent="0" algn="ctr">
              <a:buNone/>
              <a:defRPr sz="3599">
                <a:solidFill>
                  <a:schemeClr val="tx1"/>
                </a:solidFill>
                <a:latin typeface="Rockwell" pitchFamily="18" charset="0"/>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1682212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4"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2" y="6309320"/>
            <a:ext cx="12278750" cy="773752"/>
          </a:xfrm>
          <a:prstGeom prst="rect">
            <a:avLst/>
          </a:prstGeom>
          <a:noFill/>
        </p:spPr>
      </p:pic>
      <p:sp>
        <p:nvSpPr>
          <p:cNvPr id="5" name="Slide Number Placeholder 5"/>
          <p:cNvSpPr txBox="1">
            <a:spLocks/>
          </p:cNvSpPr>
          <p:nvPr userDrawn="1"/>
        </p:nvSpPr>
        <p:spPr>
          <a:xfrm>
            <a:off x="10774732" y="6337300"/>
            <a:ext cx="1045890" cy="547688"/>
          </a:xfrm>
          <a:prstGeom prst="rect">
            <a:avLst/>
          </a:prstGeom>
          <a:solidFill>
            <a:srgbClr val="F7F7F7">
              <a:alpha val="45098"/>
            </a:srgbClr>
          </a:solidFill>
        </p:spPr>
        <p:txBody>
          <a:bodyPr anchor="ctr"/>
          <a:lstStyle>
            <a:lvl1pPr>
              <a:defRPr sz="1400" b="1">
                <a:solidFill>
                  <a:schemeClr val="tx1">
                    <a:lumMod val="95000"/>
                    <a:lumOff val="5000"/>
                  </a:schemeClr>
                </a:solidFill>
                <a:latin typeface="Georgia" pitchFamily="18" charset="0"/>
              </a:defRPr>
            </a:lvl1pPr>
          </a:lstStyle>
          <a:p>
            <a:pPr algn="r">
              <a:defRPr/>
            </a:pPr>
            <a:fld id="{F579FC1C-36F4-446C-8906-E8333C2D06B8}" type="slidenum">
              <a:rPr lang="en-GB" sz="2799" smtClean="0">
                <a:solidFill>
                  <a:prstClr val="white"/>
                </a:solidFill>
              </a:rPr>
              <a:pPr algn="r">
                <a:defRPr/>
              </a:pPr>
              <a:t>‹#›</a:t>
            </a:fld>
            <a:endParaRPr lang="en-GB" sz="2799" dirty="0">
              <a:solidFill>
                <a:prstClr val="white"/>
              </a:solidFill>
            </a:endParaRPr>
          </a:p>
        </p:txBody>
      </p:sp>
      <p:pic>
        <p:nvPicPr>
          <p:cNvPr id="6" name="Picture 2" descr="C:\Users\Ours\Desktop\my stuffs\1 NTFS_000\LostFiles2\INSPIRATION\PROJECTS\MIND PROJECTS\cu_logo.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4426" y="6364288"/>
            <a:ext cx="623725"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C:\Users\Ours\Desktop\Picture1.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52306" y="6316663"/>
            <a:ext cx="597538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userDrawn="1"/>
        </p:nvSpPr>
        <p:spPr bwMode="auto">
          <a:xfrm>
            <a:off x="723712" y="6707188"/>
            <a:ext cx="221557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defRPr/>
            </a:pPr>
            <a:r>
              <a:rPr lang="en-US" altLang="en-US" sz="1200" dirty="0">
                <a:solidFill>
                  <a:prstClr val="black"/>
                </a:solidFill>
              </a:rPr>
              <a:t>www.covenantuniversity.edu.ng</a:t>
            </a:r>
            <a:endParaRPr lang="en-GB" altLang="en-US" sz="1200" dirty="0">
              <a:solidFill>
                <a:prstClr val="black"/>
              </a:solidFill>
            </a:endParaRPr>
          </a:p>
        </p:txBody>
      </p:sp>
      <p:cxnSp>
        <p:nvCxnSpPr>
          <p:cNvPr id="9" name="Straight Connector 8"/>
          <p:cNvCxnSpPr/>
          <p:nvPr userDrawn="1"/>
        </p:nvCxnSpPr>
        <p:spPr>
          <a:xfrm flipV="1">
            <a:off x="8687713" y="1341438"/>
            <a:ext cx="1799756"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10" name="Straight Connector 9"/>
          <p:cNvCxnSpPr/>
          <p:nvPr userDrawn="1"/>
        </p:nvCxnSpPr>
        <p:spPr>
          <a:xfrm flipV="1">
            <a:off x="10523973" y="1341438"/>
            <a:ext cx="718950"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userDrawn="1"/>
        </p:nvCxnSpPr>
        <p:spPr>
          <a:xfrm flipV="1">
            <a:off x="11279426" y="1341438"/>
            <a:ext cx="718950"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480838" y="153144"/>
            <a:ext cx="11711162" cy="1115616"/>
          </a:xfrm>
          <a:solidFill>
            <a:schemeClr val="bg1"/>
          </a:solidFill>
          <a:ln w="57150">
            <a:noFill/>
          </a:ln>
        </p:spPr>
        <p:txBody>
          <a:bodyPr>
            <a:normAutofit/>
          </a:bodyPr>
          <a:lstStyle>
            <a:lvl1pPr algn="l">
              <a:defRPr sz="5398" b="1">
                <a:solidFill>
                  <a:schemeClr val="tx1">
                    <a:lumMod val="95000"/>
                    <a:lumOff val="5000"/>
                  </a:schemeClr>
                </a:solidFill>
                <a:latin typeface="Rockwell Condensed" pitchFamily="18" charset="0"/>
                <a:cs typeface="Times New Roman" pitchFamily="18" charset="0"/>
              </a:defRPr>
            </a:lvl1pPr>
          </a:lstStyle>
          <a:p>
            <a:r>
              <a:rPr lang="en-US"/>
              <a:t>Click to edit Master title style</a:t>
            </a:r>
            <a:endParaRPr lang="en-GB" dirty="0"/>
          </a:p>
        </p:txBody>
      </p:sp>
      <p:sp>
        <p:nvSpPr>
          <p:cNvPr id="3" name="Content Placeholder 2"/>
          <p:cNvSpPr>
            <a:spLocks noGrp="1"/>
          </p:cNvSpPr>
          <p:nvPr>
            <p:ph idx="1"/>
          </p:nvPr>
        </p:nvSpPr>
        <p:spPr>
          <a:xfrm>
            <a:off x="239349" y="1412776"/>
            <a:ext cx="11713302" cy="4824536"/>
          </a:xfrm>
          <a:solidFill>
            <a:schemeClr val="bg1"/>
          </a:solidFill>
          <a:ln>
            <a:noFill/>
          </a:ln>
        </p:spPr>
        <p:txBody>
          <a:bodyPr>
            <a:normAutofit/>
          </a:bodyPr>
          <a:lstStyle>
            <a:lvl1pPr>
              <a:lnSpc>
                <a:spcPct val="100000"/>
              </a:lnSpc>
              <a:spcBef>
                <a:spcPts val="500"/>
              </a:spcBef>
              <a:spcAft>
                <a:spcPts val="500"/>
              </a:spcAft>
              <a:defRPr sz="3999">
                <a:latin typeface="Rockwell" pitchFamily="18" charset="0"/>
              </a:defRPr>
            </a:lvl1pPr>
            <a:lvl2pPr>
              <a:lnSpc>
                <a:spcPct val="100000"/>
              </a:lnSpc>
              <a:spcBef>
                <a:spcPts val="500"/>
              </a:spcBef>
              <a:spcAft>
                <a:spcPts val="500"/>
              </a:spcAft>
              <a:buFont typeface="Wingdings" pitchFamily="2" charset="2"/>
              <a:buChar char="§"/>
              <a:defRPr sz="3599">
                <a:solidFill>
                  <a:srgbClr val="7A0000"/>
                </a:solidFill>
                <a:latin typeface="Rockwell" pitchFamily="18" charset="0"/>
              </a:defRPr>
            </a:lvl2pPr>
            <a:lvl3pPr>
              <a:lnSpc>
                <a:spcPct val="100000"/>
              </a:lnSpc>
              <a:spcBef>
                <a:spcPts val="500"/>
              </a:spcBef>
              <a:spcAft>
                <a:spcPts val="500"/>
              </a:spcAft>
              <a:buFont typeface="Calibri" pitchFamily="34" charset="0"/>
              <a:buChar char="‒"/>
              <a:defRPr sz="3199">
                <a:solidFill>
                  <a:schemeClr val="accent4">
                    <a:lumMod val="50000"/>
                  </a:schemeClr>
                </a:solidFill>
                <a:latin typeface="Rockwell" pitchFamily="18" charset="0"/>
              </a:defRPr>
            </a:lvl3pPr>
            <a:lvl4pPr>
              <a:lnSpc>
                <a:spcPct val="100000"/>
              </a:lnSpc>
              <a:spcBef>
                <a:spcPts val="500"/>
              </a:spcBef>
              <a:spcAft>
                <a:spcPts val="500"/>
              </a:spcAft>
              <a:buFont typeface="Arial" pitchFamily="34" charset="0"/>
              <a:buChar char="•"/>
              <a:defRPr sz="2799">
                <a:latin typeface="Rockwell" pitchFamily="18" charset="0"/>
              </a:defRPr>
            </a:lvl4pPr>
            <a:lvl5pPr>
              <a:lnSpc>
                <a:spcPct val="100000"/>
              </a:lnSpc>
              <a:spcBef>
                <a:spcPts val="500"/>
              </a:spcBef>
              <a:spcAft>
                <a:spcPts val="500"/>
              </a:spcAft>
              <a:defRPr sz="2799">
                <a:latin typeface="Rockwell"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Date Placeholder 3"/>
          <p:cNvSpPr>
            <a:spLocks noGrp="1"/>
          </p:cNvSpPr>
          <p:nvPr>
            <p:ph type="dt" sz="half" idx="10"/>
          </p:nvPr>
        </p:nvSpPr>
        <p:spPr/>
        <p:txBody>
          <a:bodyPr/>
          <a:lstStyle>
            <a:lvl1pPr>
              <a:defRPr/>
            </a:lvl1pPr>
          </a:lstStyle>
          <a:p>
            <a:pPr>
              <a:defRPr/>
            </a:pPr>
            <a:fld id="{5A04A23A-B017-4BE1-9264-AD0C85CB8B7B}" type="datetimeFigureOut">
              <a:rPr lang="en-GB">
                <a:solidFill>
                  <a:prstClr val="black">
                    <a:tint val="75000"/>
                  </a:prstClr>
                </a:solidFill>
              </a:rPr>
              <a:pPr>
                <a:defRPr/>
              </a:pPr>
              <a:t>19/11/2025</a:t>
            </a:fld>
            <a:endParaRPr lang="en-GB" dirty="0">
              <a:solidFill>
                <a:prstClr val="black">
                  <a:tint val="75000"/>
                </a:prstClr>
              </a:solidFill>
            </a:endParaRPr>
          </a:p>
        </p:txBody>
      </p:sp>
      <p:sp>
        <p:nvSpPr>
          <p:cNvPr id="13" name="Footer Placeholder 4"/>
          <p:cNvSpPr>
            <a:spLocks noGrp="1"/>
          </p:cNvSpPr>
          <p:nvPr>
            <p:ph type="ftr" sz="quarter" idx="11"/>
          </p:nvPr>
        </p:nvSpPr>
        <p:spPr/>
        <p:txBody>
          <a:bodyPr/>
          <a:lstStyle>
            <a:lvl1pPr>
              <a:defRPr/>
            </a:lvl1pPr>
          </a:lstStyle>
          <a:p>
            <a:pPr>
              <a:defRPr/>
            </a:pPr>
            <a:endParaRPr lang="en-GB" dirty="0">
              <a:solidFill>
                <a:prstClr val="black">
                  <a:tint val="75000"/>
                </a:prstClr>
              </a:solidFill>
            </a:endParaRPr>
          </a:p>
        </p:txBody>
      </p:sp>
    </p:spTree>
    <p:extLst>
      <p:ext uri="{BB962C8B-B14F-4D97-AF65-F5344CB8AC3E}">
        <p14:creationId xmlns:p14="http://schemas.microsoft.com/office/powerpoint/2010/main" val="17707934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442" y="274638"/>
            <a:ext cx="1097311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p:cNvSpPr>
            <a:spLocks noGrp="1"/>
          </p:cNvSpPr>
          <p:nvPr>
            <p:ph type="body" idx="1"/>
          </p:nvPr>
        </p:nvSpPr>
        <p:spPr bwMode="auto">
          <a:xfrm>
            <a:off x="609442" y="1600201"/>
            <a:ext cx="1097311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609441" y="6356351"/>
            <a:ext cx="2845647"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fld id="{B563DF68-DC07-4A87-A8B7-10B4DBEFC14D}" type="datetimeFigureOut">
              <a:rPr lang="en-GB" smtClean="0"/>
              <a:t>19/11/2025</a:t>
            </a:fld>
            <a:endParaRPr lang="en-GB" dirty="0"/>
          </a:p>
        </p:txBody>
      </p:sp>
      <p:sp>
        <p:nvSpPr>
          <p:cNvPr id="5" name="Footer Placeholder 4"/>
          <p:cNvSpPr>
            <a:spLocks noGrp="1"/>
          </p:cNvSpPr>
          <p:nvPr>
            <p:ph type="ftr" sz="quarter" idx="3"/>
          </p:nvPr>
        </p:nvSpPr>
        <p:spPr>
          <a:xfrm>
            <a:off x="4166103" y="6356351"/>
            <a:ext cx="3859795"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endParaRPr lang="en-GB" dirty="0"/>
          </a:p>
        </p:txBody>
      </p:sp>
      <p:sp>
        <p:nvSpPr>
          <p:cNvPr id="6" name="Slide Number Placeholder 5"/>
          <p:cNvSpPr>
            <a:spLocks noGrp="1"/>
          </p:cNvSpPr>
          <p:nvPr>
            <p:ph type="sldNum" sz="quarter" idx="4"/>
          </p:nvPr>
        </p:nvSpPr>
        <p:spPr>
          <a:xfrm>
            <a:off x="8736913" y="6356351"/>
            <a:ext cx="2845646"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fld id="{5517E9D2-354B-4878-9DC4-4E395BDB556D}" type="slidenum">
              <a:rPr lang="en-GB" smtClean="0"/>
              <a:t>‹#›</a:t>
            </a:fld>
            <a:endParaRPr lang="en-GB" dirty="0"/>
          </a:p>
        </p:txBody>
      </p:sp>
    </p:spTree>
    <p:extLst>
      <p:ext uri="{BB962C8B-B14F-4D97-AF65-F5344CB8AC3E}">
        <p14:creationId xmlns:p14="http://schemas.microsoft.com/office/powerpoint/2010/main" val="584649464"/>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rtl="0" eaLnBrk="1" fontAlgn="base" hangingPunct="1">
        <a:spcBef>
          <a:spcPct val="0"/>
        </a:spcBef>
        <a:spcAft>
          <a:spcPct val="0"/>
        </a:spcAft>
        <a:defRPr sz="4399" kern="1200">
          <a:solidFill>
            <a:schemeClr val="tx1"/>
          </a:solidFill>
          <a:latin typeface="+mj-lt"/>
          <a:ea typeface="+mj-ea"/>
          <a:cs typeface="+mj-cs"/>
        </a:defRPr>
      </a:lvl1pPr>
      <a:lvl2pPr algn="ctr" rtl="0" eaLnBrk="1" fontAlgn="base" hangingPunct="1">
        <a:spcBef>
          <a:spcPct val="0"/>
        </a:spcBef>
        <a:spcAft>
          <a:spcPct val="0"/>
        </a:spcAft>
        <a:defRPr sz="4399">
          <a:solidFill>
            <a:schemeClr val="tx1"/>
          </a:solidFill>
          <a:latin typeface="Calibri" panose="020F0502020204030204" pitchFamily="34" charset="0"/>
        </a:defRPr>
      </a:lvl2pPr>
      <a:lvl3pPr algn="ctr" rtl="0" eaLnBrk="1" fontAlgn="base" hangingPunct="1">
        <a:spcBef>
          <a:spcPct val="0"/>
        </a:spcBef>
        <a:spcAft>
          <a:spcPct val="0"/>
        </a:spcAft>
        <a:defRPr sz="4399">
          <a:solidFill>
            <a:schemeClr val="tx1"/>
          </a:solidFill>
          <a:latin typeface="Calibri" panose="020F0502020204030204" pitchFamily="34" charset="0"/>
        </a:defRPr>
      </a:lvl3pPr>
      <a:lvl4pPr algn="ctr" rtl="0" eaLnBrk="1" fontAlgn="base" hangingPunct="1">
        <a:spcBef>
          <a:spcPct val="0"/>
        </a:spcBef>
        <a:spcAft>
          <a:spcPct val="0"/>
        </a:spcAft>
        <a:defRPr sz="4399">
          <a:solidFill>
            <a:schemeClr val="tx1"/>
          </a:solidFill>
          <a:latin typeface="Calibri" panose="020F0502020204030204" pitchFamily="34" charset="0"/>
        </a:defRPr>
      </a:lvl4pPr>
      <a:lvl5pPr algn="ctr" rtl="0" eaLnBrk="1" fontAlgn="base" hangingPunct="1">
        <a:spcBef>
          <a:spcPct val="0"/>
        </a:spcBef>
        <a:spcAft>
          <a:spcPct val="0"/>
        </a:spcAft>
        <a:defRPr sz="4399">
          <a:solidFill>
            <a:schemeClr val="tx1"/>
          </a:solidFill>
          <a:latin typeface="Calibri" panose="020F0502020204030204" pitchFamily="34" charset="0"/>
        </a:defRPr>
      </a:lvl5pPr>
      <a:lvl6pPr marL="457063" algn="ctr" rtl="0" eaLnBrk="1" fontAlgn="base" hangingPunct="1">
        <a:spcBef>
          <a:spcPct val="0"/>
        </a:spcBef>
        <a:spcAft>
          <a:spcPct val="0"/>
        </a:spcAft>
        <a:defRPr sz="4399">
          <a:solidFill>
            <a:schemeClr val="tx1"/>
          </a:solidFill>
          <a:latin typeface="Calibri" panose="020F0502020204030204" pitchFamily="34" charset="0"/>
        </a:defRPr>
      </a:lvl6pPr>
      <a:lvl7pPr marL="914126" algn="ctr" rtl="0" eaLnBrk="1" fontAlgn="base" hangingPunct="1">
        <a:spcBef>
          <a:spcPct val="0"/>
        </a:spcBef>
        <a:spcAft>
          <a:spcPct val="0"/>
        </a:spcAft>
        <a:defRPr sz="4399">
          <a:solidFill>
            <a:schemeClr val="tx1"/>
          </a:solidFill>
          <a:latin typeface="Calibri" panose="020F0502020204030204" pitchFamily="34" charset="0"/>
        </a:defRPr>
      </a:lvl7pPr>
      <a:lvl8pPr marL="1371189" algn="ctr" rtl="0" eaLnBrk="1" fontAlgn="base" hangingPunct="1">
        <a:spcBef>
          <a:spcPct val="0"/>
        </a:spcBef>
        <a:spcAft>
          <a:spcPct val="0"/>
        </a:spcAft>
        <a:defRPr sz="4399">
          <a:solidFill>
            <a:schemeClr val="tx1"/>
          </a:solidFill>
          <a:latin typeface="Calibri" panose="020F0502020204030204" pitchFamily="34" charset="0"/>
        </a:defRPr>
      </a:lvl8pPr>
      <a:lvl9pPr marL="1828251" algn="ctr" rtl="0" eaLnBrk="1" fontAlgn="base" hangingPunct="1">
        <a:spcBef>
          <a:spcPct val="0"/>
        </a:spcBef>
        <a:spcAft>
          <a:spcPct val="0"/>
        </a:spcAft>
        <a:defRPr sz="4399">
          <a:solidFill>
            <a:schemeClr val="tx1"/>
          </a:solidFill>
          <a:latin typeface="Calibri" panose="020F0502020204030204" pitchFamily="34" charset="0"/>
        </a:defRPr>
      </a:lvl9pPr>
    </p:titleStyle>
    <p:bodyStyle>
      <a:lvl1pPr marL="342797" indent="-342797" algn="l" rtl="0" eaLnBrk="1" fontAlgn="base" hangingPunct="1">
        <a:spcBef>
          <a:spcPct val="20000"/>
        </a:spcBef>
        <a:spcAft>
          <a:spcPct val="0"/>
        </a:spcAft>
        <a:buFont typeface="Arial" panose="020B0604020202020204" pitchFamily="34" charset="0"/>
        <a:buChar char="•"/>
        <a:defRPr sz="3199" kern="1200">
          <a:solidFill>
            <a:schemeClr val="tx1"/>
          </a:solidFill>
          <a:latin typeface="+mn-lt"/>
          <a:ea typeface="+mn-ea"/>
          <a:cs typeface="+mn-cs"/>
        </a:defRPr>
      </a:lvl1pPr>
      <a:lvl2pPr marL="742727" indent="-285664" algn="l" rtl="0" eaLnBrk="1" fontAlgn="base" hangingPunct="1">
        <a:spcBef>
          <a:spcPct val="20000"/>
        </a:spcBef>
        <a:spcAft>
          <a:spcPct val="0"/>
        </a:spcAft>
        <a:buFont typeface="Arial" panose="020B0604020202020204" pitchFamily="34" charset="0"/>
        <a:buChar char="–"/>
        <a:defRPr sz="2799" kern="1200">
          <a:solidFill>
            <a:schemeClr val="tx1"/>
          </a:solidFill>
          <a:latin typeface="+mn-lt"/>
          <a:ea typeface="+mn-ea"/>
          <a:cs typeface="+mn-cs"/>
        </a:defRPr>
      </a:lvl2pPr>
      <a:lvl3pPr marL="1142657" indent="-228531" algn="l" rtl="0" eaLnBrk="1" fontAlgn="base" hangingPunct="1">
        <a:spcBef>
          <a:spcPct val="20000"/>
        </a:spcBef>
        <a:spcAft>
          <a:spcPct val="0"/>
        </a:spcAft>
        <a:buFont typeface="Arial" panose="020B0604020202020204" pitchFamily="34" charset="0"/>
        <a:buChar char="•"/>
        <a:defRPr sz="2399" kern="1200">
          <a:solidFill>
            <a:schemeClr val="tx1"/>
          </a:solidFill>
          <a:latin typeface="+mn-lt"/>
          <a:ea typeface="+mn-ea"/>
          <a:cs typeface="+mn-cs"/>
        </a:defRPr>
      </a:lvl3pPr>
      <a:lvl4pPr marL="1599720" indent="-228531" algn="l" rtl="0" eaLnBrk="1" fontAlgn="base" hangingPunct="1">
        <a:spcBef>
          <a:spcPct val="20000"/>
        </a:spcBef>
        <a:spcAft>
          <a:spcPct val="0"/>
        </a:spcAft>
        <a:buFont typeface="Arial" panose="020B0604020202020204" pitchFamily="34" charset="0"/>
        <a:buChar char="–"/>
        <a:defRPr sz="1999" kern="1200">
          <a:solidFill>
            <a:schemeClr val="tx1"/>
          </a:solidFill>
          <a:latin typeface="+mn-lt"/>
          <a:ea typeface="+mn-ea"/>
          <a:cs typeface="+mn-cs"/>
        </a:defRPr>
      </a:lvl4pPr>
      <a:lvl5pPr marL="2056783" indent="-228531" algn="l" rtl="0" eaLnBrk="1" fontAlgn="base" hangingPunct="1">
        <a:spcBef>
          <a:spcPct val="20000"/>
        </a:spcBef>
        <a:spcAft>
          <a:spcPct val="0"/>
        </a:spcAft>
        <a:buFont typeface="Arial" panose="020B0604020202020204" pitchFamily="34" charset="0"/>
        <a:buChar char="»"/>
        <a:defRPr sz="1999" kern="1200">
          <a:solidFill>
            <a:schemeClr val="tx1"/>
          </a:solidFill>
          <a:latin typeface="+mn-lt"/>
          <a:ea typeface="+mn-ea"/>
          <a:cs typeface="+mn-cs"/>
        </a:defRPr>
      </a:lvl5pPr>
      <a:lvl6pPr marL="2513846"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8.w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a:t>Module </a:t>
            </a:r>
            <a:r>
              <a:rPr lang="en-GB" dirty="0"/>
              <a:t>7:Memory interfacing and Address Decoding</a:t>
            </a:r>
          </a:p>
        </p:txBody>
      </p:sp>
      <p:sp>
        <p:nvSpPr>
          <p:cNvPr id="3" name="Subtitle 2"/>
          <p:cNvSpPr>
            <a:spLocks noGrp="1"/>
          </p:cNvSpPr>
          <p:nvPr>
            <p:ph type="subTitle" idx="1"/>
          </p:nvPr>
        </p:nvSpPr>
        <p:spPr/>
        <p:txBody>
          <a:bodyPr/>
          <a:lstStyle/>
          <a:p>
            <a:r>
              <a:rPr lang="en-GB" dirty="0"/>
              <a:t>By Omoruyi O. and Olatimehin O.P.</a:t>
            </a:r>
          </a:p>
        </p:txBody>
      </p:sp>
    </p:spTree>
    <p:extLst>
      <p:ext uri="{BB962C8B-B14F-4D97-AF65-F5344CB8AC3E}">
        <p14:creationId xmlns:p14="http://schemas.microsoft.com/office/powerpoint/2010/main" val="3004541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Topic</a:t>
            </a:r>
          </a:p>
        </p:txBody>
      </p:sp>
      <p:sp>
        <p:nvSpPr>
          <p:cNvPr id="3" name="Content Placeholder 2"/>
          <p:cNvSpPr>
            <a:spLocks noGrp="1"/>
          </p:cNvSpPr>
          <p:nvPr>
            <p:ph idx="1"/>
          </p:nvPr>
        </p:nvSpPr>
        <p:spPr/>
        <p:txBody>
          <a:bodyPr>
            <a:normAutofit lnSpcReduction="10000"/>
          </a:bodyPr>
          <a:lstStyle/>
          <a:p>
            <a:r>
              <a:rPr lang="en-GB" dirty="0"/>
              <a:t>Memory, Types and Notes </a:t>
            </a:r>
          </a:p>
          <a:p>
            <a:r>
              <a:rPr lang="en-GB" dirty="0"/>
              <a:t>Memory Interfacing</a:t>
            </a:r>
          </a:p>
          <a:p>
            <a:r>
              <a:rPr lang="en-GB" dirty="0"/>
              <a:t>Address Decoding.</a:t>
            </a:r>
          </a:p>
          <a:p>
            <a:r>
              <a:rPr lang="en-GB" dirty="0"/>
              <a:t>I/O Interfacing: Memory mapped I/O, Isolated  I/O, bus timing, I/O instructions.</a:t>
            </a:r>
          </a:p>
          <a:p>
            <a:pPr marL="0" indent="0">
              <a:buNone/>
            </a:pPr>
            <a:br>
              <a:rPr lang="en-GB" sz="4000" dirty="0"/>
            </a:br>
            <a:endParaRPr lang="en-GB" dirty="0"/>
          </a:p>
        </p:txBody>
      </p:sp>
    </p:spTree>
    <p:extLst>
      <p:ext uri="{BB962C8B-B14F-4D97-AF65-F5344CB8AC3E}">
        <p14:creationId xmlns:p14="http://schemas.microsoft.com/office/powerpoint/2010/main" val="3323729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Memory </a:t>
            </a:r>
          </a:p>
        </p:txBody>
      </p:sp>
      <p:sp>
        <p:nvSpPr>
          <p:cNvPr id="5" name="Content Placeholder 4"/>
          <p:cNvSpPr>
            <a:spLocks noGrp="1"/>
          </p:cNvSpPr>
          <p:nvPr>
            <p:ph idx="1"/>
          </p:nvPr>
        </p:nvSpPr>
        <p:spPr/>
        <p:txBody>
          <a:bodyPr>
            <a:normAutofit/>
          </a:bodyPr>
          <a:lstStyle/>
          <a:p>
            <a:r>
              <a:rPr lang="en-GB" dirty="0"/>
              <a:t>With regards to Semi-conductor memories, they are devices and circuits that can store data or program.</a:t>
            </a:r>
          </a:p>
          <a:p>
            <a:r>
              <a:rPr lang="en-GB" dirty="0"/>
              <a:t>Memories for data are stored in Volatile units called Random Access memory (RAM).</a:t>
            </a:r>
          </a:p>
          <a:p>
            <a:r>
              <a:rPr lang="en-GB" dirty="0"/>
              <a:t>Memories for program are stored in persistent units called Read-only Memory (ROM).</a:t>
            </a:r>
          </a:p>
        </p:txBody>
      </p:sp>
    </p:spTree>
    <p:extLst>
      <p:ext uri="{BB962C8B-B14F-4D97-AF65-F5344CB8AC3E}">
        <p14:creationId xmlns:p14="http://schemas.microsoft.com/office/powerpoint/2010/main" val="2125117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Memory notes</a:t>
            </a:r>
          </a:p>
        </p:txBody>
      </p:sp>
      <p:sp>
        <p:nvSpPr>
          <p:cNvPr id="4" name="TextBox 3"/>
          <p:cNvSpPr txBox="1"/>
          <p:nvPr/>
        </p:nvSpPr>
        <p:spPr>
          <a:xfrm>
            <a:off x="609599" y="1268760"/>
            <a:ext cx="6165273" cy="5466112"/>
          </a:xfrm>
          <a:prstGeom prst="rect">
            <a:avLst/>
          </a:prstGeom>
          <a:noFill/>
        </p:spPr>
        <p:txBody>
          <a:bodyPr wrap="square" rtlCol="0">
            <a:spAutoFit/>
          </a:bodyPr>
          <a:lstStyle/>
          <a:p>
            <a:pPr marL="285750" indent="-285750" algn="just">
              <a:buFont typeface="Arial" panose="020B0604020202020204" pitchFamily="34" charset="0"/>
              <a:buChar char="•"/>
            </a:pPr>
            <a:r>
              <a:rPr lang="en-US" altLang="en-US" dirty="0">
                <a:latin typeface="Rockwell" panose="02060603020205020403" pitchFamily="18" charset="0"/>
                <a:cs typeface="Times New Roman" panose="02020603050405020304" pitchFamily="18" charset="0"/>
              </a:rPr>
              <a:t>A memory device can be viewed as a single-column table:</a:t>
            </a:r>
          </a:p>
          <a:p>
            <a:pPr algn="just"/>
            <a:endParaRPr lang="en-US" altLang="en-US" dirty="0">
              <a:latin typeface="Rockwell" panose="02060603020205020403" pitchFamily="18" charset="0"/>
              <a:cs typeface="Times New Roman" panose="02020603050405020304" pitchFamily="18" charset="0"/>
            </a:endParaRPr>
          </a:p>
          <a:p>
            <a:pPr lvl="1" algn="just">
              <a:lnSpc>
                <a:spcPct val="90000"/>
              </a:lnSpc>
              <a:buFont typeface="Arial" panose="020B0604020202020204" pitchFamily="34" charset="0"/>
              <a:buChar char="•"/>
            </a:pPr>
            <a:r>
              <a:rPr lang="en-US" altLang="en-US" dirty="0">
                <a:solidFill>
                  <a:schemeClr val="tx1"/>
                </a:solidFill>
                <a:latin typeface="Rockwell" panose="02060603020205020403" pitchFamily="18" charset="0"/>
                <a:cs typeface="Times New Roman" panose="02020603050405020304" pitchFamily="18" charset="0"/>
              </a:rPr>
              <a:t>Table index (row number) refers to the address of the memory.</a:t>
            </a:r>
          </a:p>
          <a:p>
            <a:pPr lvl="1" algn="just">
              <a:lnSpc>
                <a:spcPct val="90000"/>
              </a:lnSpc>
              <a:buFont typeface="Arial" panose="020B0604020202020204" pitchFamily="34" charset="0"/>
              <a:buChar char="•"/>
            </a:pPr>
            <a:r>
              <a:rPr lang="en-US" altLang="en-US" dirty="0">
                <a:solidFill>
                  <a:schemeClr val="tx1"/>
                </a:solidFill>
                <a:latin typeface="Rockwell" panose="02060603020205020403" pitchFamily="18" charset="0"/>
                <a:cs typeface="Times New Roman" panose="02020603050405020304" pitchFamily="18" charset="0"/>
              </a:rPr>
              <a:t>Table entries refer to the memory contents or data.</a:t>
            </a:r>
          </a:p>
          <a:p>
            <a:pPr lvl="1" algn="just">
              <a:lnSpc>
                <a:spcPct val="90000"/>
              </a:lnSpc>
              <a:buFont typeface="Arial" panose="020B0604020202020204" pitchFamily="34" charset="0"/>
              <a:buChar char="•"/>
            </a:pPr>
            <a:r>
              <a:rPr lang="en-US" altLang="en-US" dirty="0">
                <a:solidFill>
                  <a:schemeClr val="tx1"/>
                </a:solidFill>
                <a:latin typeface="Rockwell" panose="02060603020205020403" pitchFamily="18" charset="0"/>
                <a:cs typeface="Times New Roman" panose="02020603050405020304" pitchFamily="18" charset="0"/>
              </a:rPr>
              <a:t>Each table entry is referred to as a memory location or as a word. </a:t>
            </a:r>
          </a:p>
          <a:p>
            <a:pPr lvl="1" algn="just">
              <a:lnSpc>
                <a:spcPct val="90000"/>
              </a:lnSpc>
            </a:pPr>
            <a:endParaRPr lang="en-US" altLang="en-US" dirty="0">
              <a:solidFill>
                <a:schemeClr val="tx1"/>
              </a:solidFill>
              <a:latin typeface="Rockwell" panose="02060603020205020403" pitchFamily="18" charset="0"/>
              <a:cs typeface="Times New Roman" panose="02020603050405020304" pitchFamily="18" charset="0"/>
            </a:endParaRPr>
          </a:p>
          <a:p>
            <a:pPr marL="285750" indent="-285750" algn="just">
              <a:buFont typeface="Arial" panose="020B0604020202020204" pitchFamily="34" charset="0"/>
              <a:buChar char="•"/>
            </a:pPr>
            <a:r>
              <a:rPr lang="en-US" altLang="en-US" dirty="0">
                <a:latin typeface="Rockwell" panose="02060603020205020403" pitchFamily="18" charset="0"/>
                <a:cs typeface="Times New Roman" panose="02020603050405020304" pitchFamily="18" charset="0"/>
              </a:rPr>
              <a:t>Both the memory address and the memory contents are binary numbers, expressed in most cases in Hex format.</a:t>
            </a:r>
          </a:p>
          <a:p>
            <a:pPr algn="just"/>
            <a:endParaRPr lang="en-US" altLang="en-US" dirty="0">
              <a:latin typeface="Rockwell" panose="02060603020205020403" pitchFamily="18" charset="0"/>
              <a:cs typeface="Times New Roman" panose="02020603050405020304" pitchFamily="18" charset="0"/>
            </a:endParaRPr>
          </a:p>
          <a:p>
            <a:pPr marL="285750" indent="-285750" algn="just">
              <a:buFont typeface="Arial" panose="020B0604020202020204" pitchFamily="34" charset="0"/>
              <a:buChar char="•"/>
            </a:pPr>
            <a:r>
              <a:rPr lang="en-US" altLang="en-US" dirty="0">
                <a:latin typeface="Rockwell" panose="02060603020205020403" pitchFamily="18" charset="0"/>
                <a:cs typeface="Times New Roman" panose="02020603050405020304" pitchFamily="18" charset="0"/>
              </a:rPr>
              <a:t>The size of a memory device is specified as the number of memory locations times the width or word size (in bits). </a:t>
            </a:r>
          </a:p>
          <a:p>
            <a:pPr algn="just"/>
            <a:r>
              <a:rPr lang="en-US" b="1" dirty="0">
                <a:latin typeface="Rockwell" panose="02060603020205020403" pitchFamily="18" charset="0"/>
              </a:rPr>
              <a:t>For example, </a:t>
            </a:r>
            <a:r>
              <a:rPr lang="en-US" dirty="0">
                <a:latin typeface="Rockwell" panose="02060603020205020403" pitchFamily="18" charset="0"/>
              </a:rPr>
              <a:t>A memory with 16 locations and a word size of 8 bits can store 16 x 8 = 128 bits of data.</a:t>
            </a:r>
          </a:p>
          <a:p>
            <a:pPr marL="285750" indent="-285750" algn="just">
              <a:buFont typeface="Arial" panose="020B0604020202020204" pitchFamily="34" charset="0"/>
              <a:buChar char="•"/>
            </a:pPr>
            <a:endParaRPr lang="en-US" altLang="en-US" dirty="0">
              <a:solidFill>
                <a:schemeClr val="tx1"/>
              </a:solidFill>
              <a:latin typeface="Rockwell" panose="02060603020205020403" pitchFamily="18" charset="0"/>
              <a:cs typeface="Times New Roman" panose="02020603050405020304" pitchFamily="18" charset="0"/>
            </a:endParaRPr>
          </a:p>
          <a:p>
            <a:pPr marL="285750" indent="-285750" algn="just">
              <a:buFont typeface="Arial" panose="020B0604020202020204" pitchFamily="34" charset="0"/>
              <a:buChar char="•"/>
            </a:pPr>
            <a:endParaRPr lang="en-US" altLang="en-US" dirty="0">
              <a:solidFill>
                <a:schemeClr val="tx1"/>
              </a:solidFill>
              <a:latin typeface="Rockwell" panose="02060603020205020403" pitchFamily="18" charset="0"/>
              <a:cs typeface="Times New Roman" panose="02020603050405020304"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2779044592"/>
              </p:ext>
            </p:extLst>
          </p:nvPr>
        </p:nvGraphicFramePr>
        <p:xfrm>
          <a:off x="7074045" y="1426885"/>
          <a:ext cx="3386137" cy="4606769"/>
        </p:xfrm>
        <a:graphic>
          <a:graphicData uri="http://schemas.openxmlformats.org/presentationml/2006/ole">
            <mc:AlternateContent xmlns:mc="http://schemas.openxmlformats.org/markup-compatibility/2006">
              <mc:Choice xmlns:v="urn:schemas-microsoft-com:vml" Requires="v">
                <p:oleObj name="VISIO" r:id="rId2" imgW="2694432" imgH="3666744" progId="Visio.Drawing.6">
                  <p:embed/>
                </p:oleObj>
              </mc:Choice>
              <mc:Fallback>
                <p:oleObj name="VISIO" r:id="rId2" imgW="2694432" imgH="3666744"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4045" y="1426885"/>
                        <a:ext cx="3386137" cy="460676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089635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Memory notes</a:t>
            </a:r>
          </a:p>
        </p:txBody>
      </p:sp>
      <p:sp>
        <p:nvSpPr>
          <p:cNvPr id="4" name="TextBox 3"/>
          <p:cNvSpPr txBox="1"/>
          <p:nvPr/>
        </p:nvSpPr>
        <p:spPr>
          <a:xfrm>
            <a:off x="637308" y="1648689"/>
            <a:ext cx="6289965" cy="4819781"/>
          </a:xfrm>
          <a:prstGeom prst="rect">
            <a:avLst/>
          </a:prstGeom>
          <a:noFill/>
        </p:spPr>
        <p:txBody>
          <a:bodyPr wrap="square" rtlCol="0">
            <a:spAutoFit/>
          </a:bodyPr>
          <a:lstStyle/>
          <a:p>
            <a:pPr algn="just"/>
            <a:r>
              <a:rPr lang="en-US" altLang="en-US" sz="2400" dirty="0">
                <a:latin typeface="Times New Roman" panose="02020603050405020304" pitchFamily="18" charset="0"/>
                <a:cs typeface="Times New Roman" panose="02020603050405020304" pitchFamily="18" charset="0"/>
              </a:rPr>
              <a:t>Pertaining microprocessors, memory devices or memory chips are often connected with three types of  lines : </a:t>
            </a:r>
            <a:r>
              <a:rPr lang="en-US" altLang="en-US" sz="2400" b="1" dirty="0">
                <a:latin typeface="Times New Roman" panose="02020603050405020304" pitchFamily="18" charset="0"/>
                <a:cs typeface="Times New Roman" panose="02020603050405020304" pitchFamily="18" charset="0"/>
              </a:rPr>
              <a:t>Address, Data, and Control.</a:t>
            </a:r>
          </a:p>
          <a:p>
            <a:pPr>
              <a:lnSpc>
                <a:spcPct val="110000"/>
              </a:lnSpc>
            </a:pPr>
            <a:r>
              <a:rPr lang="en-US" altLang="en-US" sz="2400" b="1" dirty="0">
                <a:latin typeface="Times New Roman" panose="02020603050405020304" pitchFamily="18" charset="0"/>
                <a:cs typeface="Times New Roman" panose="02020603050405020304" pitchFamily="18" charset="0"/>
              </a:rPr>
              <a:t>Address Lines:</a:t>
            </a:r>
            <a:r>
              <a:rPr lang="en-US" altLang="en-US" sz="2400" dirty="0">
                <a:latin typeface="Times New Roman" panose="02020603050405020304" pitchFamily="18" charset="0"/>
                <a:cs typeface="Times New Roman" panose="02020603050405020304" pitchFamily="18" charset="0"/>
              </a:rPr>
              <a:t> The input lines that select a memory location within the memory device. Decoders are used inside the memory chip to select a specific location. The number of address pins on a memory chip specifies the number of memory locations.</a:t>
            </a:r>
          </a:p>
          <a:p>
            <a:pPr marL="285750" indent="-285750">
              <a:lnSpc>
                <a:spcPct val="11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If a memory chip has 13 address pins (A0 to A12), then it has: 2</a:t>
            </a:r>
            <a:r>
              <a:rPr lang="en-US" altLang="en-US" sz="2400" baseline="30000" dirty="0">
                <a:latin typeface="Times New Roman" panose="02020603050405020304" pitchFamily="18" charset="0"/>
                <a:cs typeface="Times New Roman" panose="02020603050405020304" pitchFamily="18" charset="0"/>
              </a:rPr>
              <a:t>13</a:t>
            </a:r>
            <a:r>
              <a:rPr lang="en-US" altLang="en-US" sz="2400" dirty="0">
                <a:latin typeface="Times New Roman" panose="02020603050405020304" pitchFamily="18" charset="0"/>
                <a:cs typeface="Times New Roman" panose="02020603050405020304" pitchFamily="18" charset="0"/>
              </a:rPr>
              <a:t> = 2</a:t>
            </a:r>
            <a:r>
              <a:rPr lang="en-US" altLang="en-US" sz="2400" baseline="30000" dirty="0">
                <a:latin typeface="Times New Roman" panose="02020603050405020304" pitchFamily="18" charset="0"/>
                <a:cs typeface="Times New Roman" panose="02020603050405020304" pitchFamily="18" charset="0"/>
              </a:rPr>
              <a:t>3 </a:t>
            </a:r>
            <a:r>
              <a:rPr lang="en-US" altLang="en-US" sz="2400" dirty="0">
                <a:latin typeface="Times New Roman" panose="02020603050405020304" pitchFamily="18" charset="0"/>
                <a:cs typeface="Times New Roman" panose="02020603050405020304" pitchFamily="18" charset="0"/>
              </a:rPr>
              <a:t>X 2</a:t>
            </a:r>
            <a:r>
              <a:rPr lang="en-US" altLang="en-US" sz="2400" baseline="30000" dirty="0">
                <a:latin typeface="Times New Roman" panose="02020603050405020304" pitchFamily="18" charset="0"/>
                <a:cs typeface="Times New Roman" panose="02020603050405020304" pitchFamily="18" charset="0"/>
              </a:rPr>
              <a:t>10</a:t>
            </a:r>
            <a:r>
              <a:rPr lang="en-US" altLang="en-US" sz="2400" dirty="0">
                <a:latin typeface="Times New Roman" panose="02020603050405020304" pitchFamily="18" charset="0"/>
                <a:cs typeface="Times New Roman" panose="02020603050405020304" pitchFamily="18" charset="0"/>
              </a:rPr>
              <a:t> = 8K locations.</a:t>
            </a:r>
          </a:p>
          <a:p>
            <a:pPr marL="285750" indent="-285750" algn="just">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3371542097"/>
              </p:ext>
            </p:extLst>
          </p:nvPr>
        </p:nvGraphicFramePr>
        <p:xfrm>
          <a:off x="8154654" y="1499937"/>
          <a:ext cx="3082841" cy="4658015"/>
        </p:xfrm>
        <a:graphic>
          <a:graphicData uri="http://schemas.openxmlformats.org/presentationml/2006/ole">
            <mc:AlternateContent xmlns:mc="http://schemas.openxmlformats.org/markup-compatibility/2006">
              <mc:Choice xmlns:v="urn:schemas-microsoft-com:vml" Requires="v">
                <p:oleObj name="VISIO" r:id="rId2" imgW="2904744" imgH="4390644" progId="Visio.Drawing.6">
                  <p:embed/>
                </p:oleObj>
              </mc:Choice>
              <mc:Fallback>
                <p:oleObj name="VISIO" r:id="rId2" imgW="2904744" imgH="4390644"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4654" y="1499937"/>
                        <a:ext cx="3082841" cy="465801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682315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5400" dirty="0"/>
              <a:t>Data Lines</a:t>
            </a:r>
            <a:endParaRPr lang="en-GB" dirty="0"/>
          </a:p>
        </p:txBody>
      </p:sp>
      <p:sp>
        <p:nvSpPr>
          <p:cNvPr id="4" name="Slide Number Placeholder 5"/>
          <p:cNvSpPr txBox="1">
            <a:spLocks/>
          </p:cNvSpPr>
          <p:nvPr/>
        </p:nvSpPr>
        <p:spPr>
          <a:xfrm>
            <a:off x="8269705" y="7624010"/>
            <a:ext cx="2062163" cy="304800"/>
          </a:xfrm>
          <a:prstGeom prst="rect">
            <a:avLst/>
          </a:prstGeom>
          <a:noFill/>
        </p:spPr>
        <p:txBody>
          <a:bodyPr/>
          <a:lstStyle>
            <a:defPPr>
              <a:defRPr lang="en-US"/>
            </a:defPPr>
            <a:lvl1pPr marL="0" algn="l" defTabSz="914400" rtl="0" eaLnBrk="1" latinLnBrk="0" hangingPunct="1">
              <a:defRPr sz="2400" kern="1200">
                <a:solidFill>
                  <a:schemeClr val="tx1"/>
                </a:solidFill>
                <a:latin typeface="Times New Roman" panose="02020603050405020304" pitchFamily="18" charset="0"/>
                <a:ea typeface="+mn-ea"/>
                <a:cs typeface="+mn-cs"/>
              </a:defRPr>
            </a:lvl1pPr>
            <a:lvl2pPr marL="742950" indent="-285750" algn="l" defTabSz="914400" rtl="0" eaLnBrk="1" latinLnBrk="0" hangingPunct="1">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defRPr sz="24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defRPr sz="24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defRPr sz="24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9pPr>
          </a:lstStyle>
          <a:p>
            <a:fld id="{0AB5812A-33BD-47B1-8132-45B571C0EF95}" type="slidenum">
              <a:rPr lang="en-US" altLang="en-US" sz="1400" smtClean="0">
                <a:solidFill>
                  <a:srgbClr val="FF3300"/>
                </a:solidFill>
              </a:rPr>
              <a:pPr/>
              <a:t>6</a:t>
            </a:fld>
            <a:endParaRPr lang="en-US" altLang="en-US" sz="1400" dirty="0">
              <a:solidFill>
                <a:srgbClr val="FF3300"/>
              </a:solidFill>
            </a:endParaRPr>
          </a:p>
        </p:txBody>
      </p:sp>
      <p:sp>
        <p:nvSpPr>
          <p:cNvPr id="6" name="Rectangle 3"/>
          <p:cNvSpPr txBox="1">
            <a:spLocks noChangeArrowheads="1"/>
          </p:cNvSpPr>
          <p:nvPr/>
        </p:nvSpPr>
        <p:spPr bwMode="auto">
          <a:xfrm>
            <a:off x="878305" y="1680410"/>
            <a:ext cx="9374188" cy="1447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62500" lnSpcReduction="20000"/>
          </a:bodyPr>
          <a:lstStyle>
            <a:lvl1pPr marL="342797" indent="-342797" algn="l" rtl="0" eaLnBrk="1" fontAlgn="base" hangingPunct="1">
              <a:lnSpc>
                <a:spcPct val="100000"/>
              </a:lnSpc>
              <a:spcBef>
                <a:spcPts val="500"/>
              </a:spcBef>
              <a:spcAft>
                <a:spcPts val="500"/>
              </a:spcAft>
              <a:buFont typeface="Arial" panose="020B0604020202020204" pitchFamily="34" charset="0"/>
              <a:buChar char="•"/>
              <a:defRPr sz="3999" kern="1200">
                <a:solidFill>
                  <a:schemeClr val="tx1"/>
                </a:solidFill>
                <a:latin typeface="Rockwell" pitchFamily="18" charset="0"/>
                <a:ea typeface="+mn-ea"/>
                <a:cs typeface="+mn-cs"/>
              </a:defRPr>
            </a:lvl1pPr>
            <a:lvl2pPr marL="742727" indent="-285664" algn="l" rtl="0" eaLnBrk="1" fontAlgn="base" hangingPunct="1">
              <a:lnSpc>
                <a:spcPct val="100000"/>
              </a:lnSpc>
              <a:spcBef>
                <a:spcPts val="500"/>
              </a:spcBef>
              <a:spcAft>
                <a:spcPts val="500"/>
              </a:spcAft>
              <a:buFont typeface="Wingdings" pitchFamily="2" charset="2"/>
              <a:buChar char="§"/>
              <a:defRPr sz="3599" kern="1200">
                <a:solidFill>
                  <a:srgbClr val="7A0000"/>
                </a:solidFill>
                <a:latin typeface="Rockwell" pitchFamily="18" charset="0"/>
                <a:ea typeface="+mn-ea"/>
                <a:cs typeface="+mn-cs"/>
              </a:defRPr>
            </a:lvl2pPr>
            <a:lvl3pPr marL="1142657" indent="-228531" algn="l" rtl="0" eaLnBrk="1" fontAlgn="base" hangingPunct="1">
              <a:lnSpc>
                <a:spcPct val="100000"/>
              </a:lnSpc>
              <a:spcBef>
                <a:spcPts val="500"/>
              </a:spcBef>
              <a:spcAft>
                <a:spcPts val="500"/>
              </a:spcAft>
              <a:buFont typeface="Calibri" pitchFamily="34" charset="0"/>
              <a:buChar char="‒"/>
              <a:defRPr sz="3199" kern="1200">
                <a:solidFill>
                  <a:schemeClr val="accent4">
                    <a:lumMod val="50000"/>
                  </a:schemeClr>
                </a:solidFill>
                <a:latin typeface="Rockwell" pitchFamily="18" charset="0"/>
                <a:ea typeface="+mn-ea"/>
                <a:cs typeface="+mn-cs"/>
              </a:defRPr>
            </a:lvl3pPr>
            <a:lvl4pPr marL="1599720" indent="-228531" algn="l" rtl="0" eaLnBrk="1" fontAlgn="base" hangingPunct="1">
              <a:lnSpc>
                <a:spcPct val="100000"/>
              </a:lnSpc>
              <a:spcBef>
                <a:spcPts val="500"/>
              </a:spcBef>
              <a:spcAft>
                <a:spcPts val="500"/>
              </a:spcAft>
              <a:buFont typeface="Arial" pitchFamily="34" charset="0"/>
              <a:buChar char="•"/>
              <a:defRPr sz="2799" kern="1200">
                <a:solidFill>
                  <a:schemeClr val="tx1"/>
                </a:solidFill>
                <a:latin typeface="Rockwell" pitchFamily="18" charset="0"/>
                <a:ea typeface="+mn-ea"/>
                <a:cs typeface="+mn-cs"/>
              </a:defRPr>
            </a:lvl4pPr>
            <a:lvl5pPr marL="2056783" indent="-228531" algn="l" rtl="0" eaLnBrk="1" fontAlgn="base" hangingPunct="1">
              <a:lnSpc>
                <a:spcPct val="100000"/>
              </a:lnSpc>
              <a:spcBef>
                <a:spcPts val="500"/>
              </a:spcBef>
              <a:spcAft>
                <a:spcPts val="500"/>
              </a:spcAft>
              <a:buFont typeface="Arial" panose="020B0604020202020204" pitchFamily="34" charset="0"/>
              <a:buChar char="»"/>
              <a:defRPr sz="2799" kern="1200">
                <a:solidFill>
                  <a:schemeClr val="tx1"/>
                </a:solidFill>
                <a:latin typeface="Rockwell" pitchFamily="18" charset="0"/>
                <a:ea typeface="+mn-ea"/>
                <a:cs typeface="+mn-cs"/>
              </a:defRPr>
            </a:lvl5pPr>
            <a:lvl6pPr marL="2513846"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230188" indent="-230188">
              <a:lnSpc>
                <a:spcPct val="110000"/>
              </a:lnSpc>
            </a:pPr>
            <a:r>
              <a:rPr lang="en-US" altLang="en-US" b="1" dirty="0">
                <a:latin typeface="Times New Roman" panose="02020603050405020304" pitchFamily="18" charset="0"/>
                <a:cs typeface="Times New Roman" panose="02020603050405020304" pitchFamily="18" charset="0"/>
              </a:rPr>
              <a:t>Data Connections:</a:t>
            </a:r>
            <a:r>
              <a:rPr lang="en-US" altLang="en-US" dirty="0">
                <a:latin typeface="Times New Roman" panose="02020603050405020304" pitchFamily="18" charset="0"/>
                <a:cs typeface="Times New Roman" panose="02020603050405020304" pitchFamily="18" charset="0"/>
              </a:rPr>
              <a:t> All memory devices have a set of data output pins (for ROM  devices), or  input/output pins (for RAM devices).</a:t>
            </a:r>
          </a:p>
          <a:p>
            <a:pPr marL="514350" lvl="1" indent="-169863">
              <a:lnSpc>
                <a:spcPct val="110000"/>
              </a:lnSpc>
            </a:pPr>
            <a:r>
              <a:rPr lang="en-US" altLang="en-US" sz="2000" dirty="0">
                <a:solidFill>
                  <a:schemeClr val="tx1"/>
                </a:solidFill>
                <a:latin typeface="Times New Roman" panose="02020603050405020304" pitchFamily="18" charset="0"/>
                <a:cs typeface="Times New Roman" panose="02020603050405020304" pitchFamily="18" charset="0"/>
              </a:rPr>
              <a:t>Most RAM chips have common bi-directional I/O connections. </a:t>
            </a:r>
          </a:p>
          <a:p>
            <a:pPr marL="514350" lvl="1" indent="-169863">
              <a:lnSpc>
                <a:spcPct val="110000"/>
              </a:lnSpc>
            </a:pPr>
            <a:r>
              <a:rPr lang="en-US" altLang="en-US" sz="2000" dirty="0">
                <a:solidFill>
                  <a:schemeClr val="tx1"/>
                </a:solidFill>
                <a:latin typeface="Times New Roman" panose="02020603050405020304" pitchFamily="18" charset="0"/>
                <a:cs typeface="Times New Roman" panose="02020603050405020304" pitchFamily="18" charset="0"/>
              </a:rPr>
              <a:t>Most memory devices have 1, 8 or 16 data lines.</a:t>
            </a:r>
            <a:endParaRPr lang="en-US" altLang="en-US" b="1" dirty="0">
              <a:solidFill>
                <a:schemeClr val="tx1"/>
              </a:solidFill>
              <a:latin typeface="Times New Roman" panose="02020603050405020304" pitchFamily="18" charset="0"/>
              <a:cs typeface="Times New Roman" panose="02020603050405020304" pitchFamily="18" charset="0"/>
            </a:endParaRPr>
          </a:p>
        </p:txBody>
      </p:sp>
      <p:graphicFrame>
        <p:nvGraphicFramePr>
          <p:cNvPr id="7" name="Object 4"/>
          <p:cNvGraphicFramePr>
            <a:graphicFrameLocks noChangeAspect="1"/>
          </p:cNvGraphicFramePr>
          <p:nvPr>
            <p:extLst>
              <p:ext uri="{D42A27DB-BD31-4B8C-83A1-F6EECF244321}">
                <p14:modId xmlns:p14="http://schemas.microsoft.com/office/powerpoint/2010/main" val="2001866938"/>
              </p:ext>
            </p:extLst>
          </p:nvPr>
        </p:nvGraphicFramePr>
        <p:xfrm>
          <a:off x="852111" y="3019926"/>
          <a:ext cx="3187700" cy="3429000"/>
        </p:xfrm>
        <a:graphic>
          <a:graphicData uri="http://schemas.openxmlformats.org/presentationml/2006/ole">
            <mc:AlternateContent xmlns:mc="http://schemas.openxmlformats.org/markup-compatibility/2006">
              <mc:Choice xmlns:v="urn:schemas-microsoft-com:vml" Requires="v">
                <p:oleObj name="VISIO" r:id="rId2" imgW="3019044" imgH="3247644" progId="Visio.Drawing.6">
                  <p:embed/>
                </p:oleObj>
              </mc:Choice>
              <mc:Fallback>
                <p:oleObj name="VISIO" r:id="rId2" imgW="3019044" imgH="3247644"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111" y="3019926"/>
                        <a:ext cx="3187700" cy="3429000"/>
                      </a:xfrm>
                      <a:prstGeom prst="rect">
                        <a:avLst/>
                      </a:prstGeom>
                      <a:noFill/>
                      <a:ln>
                        <a:noFill/>
                      </a:ln>
                      <a:effectLst/>
                      <a:extLst>
                        <a:ext uri="{909E8E84-426E-40DD-AFC4-6F175D3DCCD1}">
                          <a14:hiddenFill xmlns:a14="http://schemas.microsoft.com/office/drawing/2010/main">
                            <a:solidFill>
                              <a:schemeClr val="bg1">
                                <a:alpha val="50195"/>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5"/>
          <p:cNvGraphicFramePr>
            <a:graphicFrameLocks noChangeAspect="1"/>
          </p:cNvGraphicFramePr>
          <p:nvPr>
            <p:extLst>
              <p:ext uri="{D42A27DB-BD31-4B8C-83A1-F6EECF244321}">
                <p14:modId xmlns:p14="http://schemas.microsoft.com/office/powerpoint/2010/main" val="3230749873"/>
              </p:ext>
            </p:extLst>
          </p:nvPr>
        </p:nvGraphicFramePr>
        <p:xfrm>
          <a:off x="4066005" y="3128210"/>
          <a:ext cx="3127375" cy="3429000"/>
        </p:xfrm>
        <a:graphic>
          <a:graphicData uri="http://schemas.openxmlformats.org/presentationml/2006/ole">
            <mc:AlternateContent xmlns:mc="http://schemas.openxmlformats.org/markup-compatibility/2006">
              <mc:Choice xmlns:v="urn:schemas-microsoft-com:vml" Requires="v">
                <p:oleObj name="VISIO" r:id="rId4" imgW="2962656" imgH="3247644" progId="Visio.Drawing.6">
                  <p:embed/>
                </p:oleObj>
              </mc:Choice>
              <mc:Fallback>
                <p:oleObj name="VISIO" r:id="rId4" imgW="2962656" imgH="3247644"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6005" y="3128210"/>
                        <a:ext cx="3127375" cy="3429000"/>
                      </a:xfrm>
                      <a:prstGeom prst="rect">
                        <a:avLst/>
                      </a:prstGeom>
                      <a:noFill/>
                      <a:ln>
                        <a:noFill/>
                      </a:ln>
                      <a:effectLst/>
                      <a:extLst>
                        <a:ext uri="{909E8E84-426E-40DD-AFC4-6F175D3DCCD1}">
                          <a14:hiddenFill xmlns:a14="http://schemas.microsoft.com/office/drawing/2010/main">
                            <a:solidFill>
                              <a:schemeClr val="bg1">
                                <a:alpha val="50195"/>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6"/>
          <p:cNvGraphicFramePr>
            <a:graphicFrameLocks noChangeAspect="1"/>
          </p:cNvGraphicFramePr>
          <p:nvPr>
            <p:extLst>
              <p:ext uri="{D42A27DB-BD31-4B8C-83A1-F6EECF244321}">
                <p14:modId xmlns:p14="http://schemas.microsoft.com/office/powerpoint/2010/main" val="270256378"/>
              </p:ext>
            </p:extLst>
          </p:nvPr>
        </p:nvGraphicFramePr>
        <p:xfrm>
          <a:off x="7245768" y="3248526"/>
          <a:ext cx="3138487" cy="3429000"/>
        </p:xfrm>
        <a:graphic>
          <a:graphicData uri="http://schemas.openxmlformats.org/presentationml/2006/ole">
            <mc:AlternateContent xmlns:mc="http://schemas.openxmlformats.org/markup-compatibility/2006">
              <mc:Choice xmlns:v="urn:schemas-microsoft-com:vml" Requires="v">
                <p:oleObj name="VISIO" r:id="rId6" imgW="3019044" imgH="3247644" progId="Visio.Drawing.6">
                  <p:embed/>
                </p:oleObj>
              </mc:Choice>
              <mc:Fallback>
                <p:oleObj name="VISIO" r:id="rId6" imgW="3019044" imgH="3247644"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5768" y="3248526"/>
                        <a:ext cx="3138487" cy="3429000"/>
                      </a:xfrm>
                      <a:prstGeom prst="rect">
                        <a:avLst/>
                      </a:prstGeom>
                      <a:noFill/>
                      <a:ln>
                        <a:noFill/>
                      </a:ln>
                      <a:effectLst/>
                      <a:extLst>
                        <a:ext uri="{909E8E84-426E-40DD-AFC4-6F175D3DCCD1}">
                          <a14:hiddenFill xmlns:a14="http://schemas.microsoft.com/office/drawing/2010/main">
                            <a:solidFill>
                              <a:schemeClr val="bg1">
                                <a:alpha val="50195"/>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12850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Control Connection</a:t>
            </a:r>
          </a:p>
        </p:txBody>
      </p:sp>
      <p:sp>
        <p:nvSpPr>
          <p:cNvPr id="3" name="Content Placeholder 2"/>
          <p:cNvSpPr>
            <a:spLocks noGrp="1"/>
          </p:cNvSpPr>
          <p:nvPr>
            <p:ph idx="1"/>
          </p:nvPr>
        </p:nvSpPr>
        <p:spPr/>
        <p:txBody>
          <a:bodyPr>
            <a:normAutofit fontScale="85000" lnSpcReduction="20000"/>
          </a:bodyPr>
          <a:lstStyle/>
          <a:p>
            <a:pPr marL="230188" indent="-230188">
              <a:lnSpc>
                <a:spcPct val="110000"/>
              </a:lnSpc>
            </a:pPr>
            <a:r>
              <a:rPr lang="en-US" altLang="en-US" b="1" dirty="0">
                <a:latin typeface="Times New Roman" panose="02020603050405020304" pitchFamily="18" charset="0"/>
                <a:cs typeface="Times New Roman" panose="02020603050405020304" pitchFamily="18" charset="0"/>
              </a:rPr>
              <a:t>Enable Connections:</a:t>
            </a:r>
            <a:r>
              <a:rPr lang="en-US" altLang="en-US" dirty="0">
                <a:latin typeface="Times New Roman" panose="02020603050405020304" pitchFamily="18" charset="0"/>
                <a:cs typeface="Times New Roman" panose="02020603050405020304" pitchFamily="18" charset="0"/>
              </a:rPr>
              <a:t> </a:t>
            </a:r>
          </a:p>
          <a:p>
            <a:pPr marL="514350" lvl="1" indent="-169863">
              <a:lnSpc>
                <a:spcPct val="110000"/>
              </a:lnSpc>
            </a:pPr>
            <a:r>
              <a:rPr lang="en-US" altLang="en-US" sz="2000" dirty="0">
                <a:solidFill>
                  <a:schemeClr val="tx1"/>
                </a:solidFill>
                <a:latin typeface="Times New Roman" panose="02020603050405020304" pitchFamily="18" charset="0"/>
                <a:cs typeface="Times New Roman" panose="02020603050405020304" pitchFamily="18" charset="0"/>
              </a:rPr>
              <a:t>All memory devices have at least one </a:t>
            </a:r>
            <a:r>
              <a:rPr lang="en-US" altLang="en-US" sz="2000" b="1" dirty="0">
                <a:solidFill>
                  <a:schemeClr val="tx1"/>
                </a:solidFill>
                <a:latin typeface="Times New Roman" panose="02020603050405020304" pitchFamily="18" charset="0"/>
                <a:cs typeface="Times New Roman" panose="02020603050405020304" pitchFamily="18" charset="0"/>
              </a:rPr>
              <a:t>Chip Select (CS)</a:t>
            </a:r>
            <a:r>
              <a:rPr lang="en-US" altLang="en-US" sz="2000" dirty="0">
                <a:solidFill>
                  <a:schemeClr val="tx1"/>
                </a:solidFill>
                <a:latin typeface="Times New Roman" panose="02020603050405020304" pitchFamily="18" charset="0"/>
                <a:cs typeface="Times New Roman" panose="02020603050405020304" pitchFamily="18" charset="0"/>
              </a:rPr>
              <a:t> or </a:t>
            </a:r>
            <a:r>
              <a:rPr lang="en-US" altLang="en-US" sz="2000" b="1" dirty="0">
                <a:solidFill>
                  <a:schemeClr val="tx1"/>
                </a:solidFill>
                <a:latin typeface="Times New Roman" panose="02020603050405020304" pitchFamily="18" charset="0"/>
                <a:cs typeface="Times New Roman" panose="02020603050405020304" pitchFamily="18" charset="0"/>
              </a:rPr>
              <a:t>Chip Enable (CE)</a:t>
            </a:r>
            <a:r>
              <a:rPr lang="en-US" altLang="en-US" sz="2000" dirty="0">
                <a:solidFill>
                  <a:schemeClr val="tx1"/>
                </a:solidFill>
                <a:latin typeface="Times New Roman" panose="02020603050405020304" pitchFamily="18" charset="0"/>
                <a:cs typeface="Times New Roman" panose="02020603050405020304" pitchFamily="18" charset="0"/>
              </a:rPr>
              <a:t> input, used to select or enable the memory device</a:t>
            </a:r>
            <a:r>
              <a:rPr lang="en-US" altLang="en-US" sz="2400" dirty="0">
                <a:solidFill>
                  <a:schemeClr val="tx1"/>
                </a:solidFill>
                <a:latin typeface="Times New Roman" panose="02020603050405020304" pitchFamily="18" charset="0"/>
                <a:cs typeface="Times New Roman" panose="02020603050405020304" pitchFamily="18" charset="0"/>
              </a:rPr>
              <a:t>.</a:t>
            </a:r>
          </a:p>
          <a:p>
            <a:pPr marL="857250" lvl="2" indent="-171450">
              <a:lnSpc>
                <a:spcPct val="110000"/>
              </a:lnSpc>
            </a:pPr>
            <a:r>
              <a:rPr lang="en-US" altLang="en-US" sz="2000" dirty="0">
                <a:solidFill>
                  <a:schemeClr val="tx1"/>
                </a:solidFill>
                <a:latin typeface="Times New Roman" panose="02020603050405020304" pitchFamily="18" charset="0"/>
                <a:cs typeface="Times New Roman" panose="02020603050405020304" pitchFamily="18" charset="0"/>
              </a:rPr>
              <a:t>If a device is not selected or enabled then no data can be read from or written into it.</a:t>
            </a:r>
          </a:p>
          <a:p>
            <a:pPr marL="857250" lvl="2" indent="-171450">
              <a:lnSpc>
                <a:spcPct val="110000"/>
              </a:lnSpc>
            </a:pPr>
            <a:r>
              <a:rPr lang="en-US" altLang="en-US" sz="2000" dirty="0">
                <a:solidFill>
                  <a:schemeClr val="tx1"/>
                </a:solidFill>
                <a:latin typeface="Times New Roman" panose="02020603050405020304" pitchFamily="18" charset="0"/>
                <a:cs typeface="Times New Roman" panose="02020603050405020304" pitchFamily="18" charset="0"/>
              </a:rPr>
              <a:t>The CS or CE input is usually controlled by the microprocessor through the higher address lines via an </a:t>
            </a:r>
            <a:r>
              <a:rPr lang="en-US" altLang="en-US" sz="2000" b="1" dirty="0">
                <a:solidFill>
                  <a:schemeClr val="tx1"/>
                </a:solidFill>
                <a:latin typeface="Times New Roman" panose="02020603050405020304" pitchFamily="18" charset="0"/>
                <a:cs typeface="Times New Roman" panose="02020603050405020304" pitchFamily="18" charset="0"/>
              </a:rPr>
              <a:t>address decoding circuit</a:t>
            </a:r>
            <a:r>
              <a:rPr lang="en-US" altLang="en-US" sz="2000" dirty="0">
                <a:solidFill>
                  <a:schemeClr val="tx1"/>
                </a:solidFill>
                <a:latin typeface="Times New Roman" panose="02020603050405020304" pitchFamily="18" charset="0"/>
                <a:cs typeface="Times New Roman" panose="02020603050405020304" pitchFamily="18" charset="0"/>
              </a:rPr>
              <a:t>. </a:t>
            </a:r>
          </a:p>
          <a:p>
            <a:pPr marL="230188" indent="-230188">
              <a:lnSpc>
                <a:spcPct val="110000"/>
              </a:lnSpc>
            </a:pPr>
            <a:r>
              <a:rPr lang="en-US" altLang="en-US" b="1" dirty="0">
                <a:latin typeface="Times New Roman" panose="02020603050405020304" pitchFamily="18" charset="0"/>
                <a:cs typeface="Times New Roman" panose="02020603050405020304" pitchFamily="18" charset="0"/>
              </a:rPr>
              <a:t>Control Connections:</a:t>
            </a:r>
            <a:endParaRPr lang="en-US" altLang="en-US" sz="2400" dirty="0">
              <a:latin typeface="Times New Roman" panose="02020603050405020304" pitchFamily="18" charset="0"/>
              <a:cs typeface="Times New Roman" panose="02020603050405020304" pitchFamily="18" charset="0"/>
            </a:endParaRPr>
          </a:p>
          <a:p>
            <a:pPr marL="514350" lvl="1" indent="-169863">
              <a:lnSpc>
                <a:spcPct val="110000"/>
              </a:lnSpc>
            </a:pPr>
            <a:r>
              <a:rPr lang="en-US" altLang="en-US" sz="2000" dirty="0">
                <a:solidFill>
                  <a:schemeClr val="tx1"/>
                </a:solidFill>
                <a:latin typeface="Times New Roman" panose="02020603050405020304" pitchFamily="18" charset="0"/>
                <a:cs typeface="Times New Roman" panose="02020603050405020304" pitchFamily="18" charset="0"/>
              </a:rPr>
              <a:t>RAM chips have two control input signals that specify the type of memory operation: the </a:t>
            </a:r>
            <a:r>
              <a:rPr lang="en-US" altLang="en-US" sz="2000" b="1" dirty="0">
                <a:solidFill>
                  <a:schemeClr val="tx1"/>
                </a:solidFill>
                <a:latin typeface="Times New Roman" panose="02020603050405020304" pitchFamily="18" charset="0"/>
                <a:cs typeface="Times New Roman" panose="02020603050405020304" pitchFamily="18" charset="0"/>
              </a:rPr>
              <a:t>Read (RD)</a:t>
            </a:r>
            <a:r>
              <a:rPr lang="en-US" altLang="en-US" sz="2000" dirty="0">
                <a:solidFill>
                  <a:schemeClr val="tx1"/>
                </a:solidFill>
                <a:latin typeface="Times New Roman" panose="02020603050405020304" pitchFamily="18" charset="0"/>
                <a:cs typeface="Times New Roman" panose="02020603050405020304" pitchFamily="18" charset="0"/>
              </a:rPr>
              <a:t> and the </a:t>
            </a:r>
            <a:r>
              <a:rPr lang="en-US" altLang="en-US" sz="2000" b="1" dirty="0">
                <a:solidFill>
                  <a:schemeClr val="tx1"/>
                </a:solidFill>
                <a:latin typeface="Times New Roman" panose="02020603050405020304" pitchFamily="18" charset="0"/>
                <a:cs typeface="Times New Roman" panose="02020603050405020304" pitchFamily="18" charset="0"/>
              </a:rPr>
              <a:t>Write (WR)</a:t>
            </a:r>
            <a:r>
              <a:rPr lang="en-US" altLang="en-US" sz="2000" dirty="0">
                <a:solidFill>
                  <a:schemeClr val="tx1"/>
                </a:solidFill>
                <a:latin typeface="Times New Roman" panose="02020603050405020304" pitchFamily="18" charset="0"/>
                <a:cs typeface="Times New Roman" panose="02020603050405020304" pitchFamily="18" charset="0"/>
              </a:rPr>
              <a:t> signals.</a:t>
            </a:r>
          </a:p>
          <a:p>
            <a:pPr marL="857250" lvl="2" indent="-171450">
              <a:lnSpc>
                <a:spcPct val="110000"/>
              </a:lnSpc>
            </a:pPr>
            <a:r>
              <a:rPr lang="en-US" altLang="en-US" sz="2000" dirty="0">
                <a:solidFill>
                  <a:schemeClr val="tx1"/>
                </a:solidFill>
                <a:latin typeface="Times New Roman" panose="02020603050405020304" pitchFamily="18" charset="0"/>
                <a:cs typeface="Times New Roman" panose="02020603050405020304" pitchFamily="18" charset="0"/>
              </a:rPr>
              <a:t>Some RAM chips have a common </a:t>
            </a:r>
            <a:r>
              <a:rPr lang="en-US" altLang="en-US" sz="2000" b="1" dirty="0">
                <a:solidFill>
                  <a:schemeClr val="tx1"/>
                </a:solidFill>
                <a:latin typeface="Times New Roman" panose="02020603050405020304" pitchFamily="18" charset="0"/>
                <a:cs typeface="Times New Roman" panose="02020603050405020304" pitchFamily="18" charset="0"/>
              </a:rPr>
              <a:t>Read/</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b="1" dirty="0">
                <a:solidFill>
                  <a:schemeClr val="tx1"/>
                </a:solidFill>
                <a:latin typeface="Times New Roman" panose="02020603050405020304" pitchFamily="18" charset="0"/>
                <a:cs typeface="Times New Roman" panose="02020603050405020304" pitchFamily="18" charset="0"/>
              </a:rPr>
              <a:t>Write (R/W)</a:t>
            </a:r>
            <a:r>
              <a:rPr lang="en-US" altLang="en-US" sz="2000" dirty="0">
                <a:solidFill>
                  <a:schemeClr val="tx1"/>
                </a:solidFill>
                <a:latin typeface="Times New Roman" panose="02020603050405020304" pitchFamily="18" charset="0"/>
                <a:cs typeface="Times New Roman" panose="02020603050405020304" pitchFamily="18" charset="0"/>
              </a:rPr>
              <a:t> signal.</a:t>
            </a:r>
          </a:p>
          <a:p>
            <a:pPr marL="514350" lvl="1" indent="-169863">
              <a:lnSpc>
                <a:spcPct val="110000"/>
              </a:lnSpc>
            </a:pPr>
            <a:r>
              <a:rPr lang="en-US" altLang="en-US" sz="2000" dirty="0">
                <a:solidFill>
                  <a:schemeClr val="tx1"/>
                </a:solidFill>
                <a:latin typeface="Times New Roman" panose="02020603050405020304" pitchFamily="18" charset="0"/>
                <a:cs typeface="Times New Roman" panose="02020603050405020304" pitchFamily="18" charset="0"/>
              </a:rPr>
              <a:t>ROM chips can perform only memory read operations, thus there is no need for a Write (WR) signal. </a:t>
            </a:r>
          </a:p>
          <a:p>
            <a:pPr marL="857250" lvl="2" indent="-171450">
              <a:lnSpc>
                <a:spcPct val="110000"/>
              </a:lnSpc>
            </a:pPr>
            <a:r>
              <a:rPr lang="en-US" altLang="en-US" sz="2000" dirty="0">
                <a:solidFill>
                  <a:schemeClr val="tx1"/>
                </a:solidFill>
                <a:latin typeface="Times New Roman" panose="02020603050405020304" pitchFamily="18" charset="0"/>
                <a:cs typeface="Times New Roman" panose="02020603050405020304" pitchFamily="18" charset="0"/>
              </a:rPr>
              <a:t>In most real ROM devices the Read signal is called the </a:t>
            </a:r>
            <a:r>
              <a:rPr lang="en-US" altLang="en-US" sz="2000" b="1" dirty="0">
                <a:solidFill>
                  <a:schemeClr val="tx1"/>
                </a:solidFill>
                <a:latin typeface="Times New Roman" panose="02020603050405020304" pitchFamily="18" charset="0"/>
                <a:cs typeface="Times New Roman" panose="02020603050405020304" pitchFamily="18" charset="0"/>
              </a:rPr>
              <a:t>Output Enable (OE)</a:t>
            </a:r>
            <a:r>
              <a:rPr lang="en-US" altLang="en-US" sz="2000" dirty="0">
                <a:solidFill>
                  <a:schemeClr val="tx1"/>
                </a:solidFill>
                <a:latin typeface="Times New Roman" panose="02020603050405020304" pitchFamily="18" charset="0"/>
                <a:cs typeface="Times New Roman" panose="02020603050405020304" pitchFamily="18" charset="0"/>
              </a:rPr>
              <a:t> signal. </a:t>
            </a: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333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Memory Interfacing</a:t>
            </a:r>
          </a:p>
        </p:txBody>
      </p:sp>
      <p:sp>
        <p:nvSpPr>
          <p:cNvPr id="3" name="Content Placeholder 2"/>
          <p:cNvSpPr>
            <a:spLocks noGrp="1"/>
          </p:cNvSpPr>
          <p:nvPr>
            <p:ph idx="1"/>
          </p:nvPr>
        </p:nvSpPr>
        <p:spPr/>
        <p:txBody>
          <a:bodyPr>
            <a:normAutofit fontScale="70000" lnSpcReduction="20000"/>
          </a:bodyPr>
          <a:lstStyle/>
          <a:p>
            <a:pPr marL="0" indent="0" algn="just">
              <a:buNone/>
            </a:pPr>
            <a:endParaRPr lang="en-GB" dirty="0"/>
          </a:p>
          <a:p>
            <a:pPr marL="0" indent="0" algn="just">
              <a:buNone/>
            </a:pPr>
            <a:r>
              <a:rPr lang="en-GB" dirty="0"/>
              <a:t>8086  has a 20-bit address bus, and hence, it can address  2</a:t>
            </a:r>
            <a:r>
              <a:rPr lang="en-GB" baseline="30000" dirty="0"/>
              <a:t>20</a:t>
            </a:r>
            <a:r>
              <a:rPr lang="en-GB" dirty="0"/>
              <a:t> or  1,048,576 addresses.  In each location,  a byte is stored.  When a word is stored in the memory, it is stored in two consecutive locations. Strictly speaking, both memory read and memory write operations require more than one memory cycle. The basic operation of reading/writing a byte from/to a memory location/port is called a machine cycle. A machine cycle is made up of many states.</a:t>
            </a:r>
          </a:p>
          <a:p>
            <a:pPr marL="0" indent="0" algn="just">
              <a:buNone/>
            </a:pPr>
            <a:r>
              <a:rPr lang="en-GB" dirty="0"/>
              <a:t>If we want the 8086 to complete a memory read and memory write operations to be completed with one machine cycle, the memory is to be organized in the form of two banks. Each bank will have 524,288 bytes each.</a:t>
            </a:r>
          </a:p>
        </p:txBody>
      </p:sp>
    </p:spTree>
    <p:extLst>
      <p:ext uri="{BB962C8B-B14F-4D97-AF65-F5344CB8AC3E}">
        <p14:creationId xmlns:p14="http://schemas.microsoft.com/office/powerpoint/2010/main" val="855124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Diagram of Data bus model</a:t>
            </a:r>
          </a:p>
        </p:txBody>
      </p:sp>
      <p:pic>
        <p:nvPicPr>
          <p:cNvPr id="4" name="Content Placeholder 3"/>
          <p:cNvPicPr>
            <a:picLocks noGrp="1" noChangeAspect="1"/>
          </p:cNvPicPr>
          <p:nvPr>
            <p:ph idx="1"/>
          </p:nvPr>
        </p:nvPicPr>
        <p:blipFill>
          <a:blip r:embed="rId2"/>
          <a:stretch>
            <a:fillRect/>
          </a:stretch>
        </p:blipFill>
        <p:spPr>
          <a:xfrm>
            <a:off x="3395040" y="1412875"/>
            <a:ext cx="5401921" cy="4824413"/>
          </a:xfrm>
          <a:prstGeom prst="rect">
            <a:avLst/>
          </a:prstGeom>
        </p:spPr>
      </p:pic>
    </p:spTree>
    <p:extLst>
      <p:ext uri="{BB962C8B-B14F-4D97-AF65-F5344CB8AC3E}">
        <p14:creationId xmlns:p14="http://schemas.microsoft.com/office/powerpoint/2010/main" val="2447436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Memory interfacing (continued)</a:t>
            </a:r>
          </a:p>
        </p:txBody>
      </p:sp>
      <p:sp>
        <p:nvSpPr>
          <p:cNvPr id="3" name="Content Placeholder 2"/>
          <p:cNvSpPr>
            <a:spLocks noGrp="1"/>
          </p:cNvSpPr>
          <p:nvPr>
            <p:ph idx="1"/>
          </p:nvPr>
        </p:nvSpPr>
        <p:spPr/>
        <p:txBody>
          <a:bodyPr>
            <a:normAutofit fontScale="62500" lnSpcReduction="20000"/>
          </a:bodyPr>
          <a:lstStyle/>
          <a:p>
            <a:pPr marL="0" indent="0" algn="just">
              <a:buNone/>
            </a:pPr>
            <a:r>
              <a:rPr lang="en-GB" dirty="0"/>
              <a:t>One  memory  bank contains  all  the  even addressed  locations  like  00000,  00002 and  00004.  The  data  lines  of  this  bank  are  connected  to  the  lower  eight  data lines,  D0  through  D7  of  the  8086.  The  other  memory  bank  has  all  the  odd addressed  locations  like 00001,  00003  and  00005.  The  data  lines  of  this  bank are  connected  to  the  upper  eight  data  lines,  D8  through  D15  of  the  8086. Address  line  A0  is  used  as  part  of  the  enabling  for  memory  in  the  lower  bank. </a:t>
            </a:r>
          </a:p>
          <a:p>
            <a:pPr marL="0" indent="0" algn="just">
              <a:buNone/>
            </a:pPr>
            <a:r>
              <a:rPr lang="en-GB" dirty="0"/>
              <a:t>Address  lines  A1 through A19 are  used  to  select  the desired  memory  device  in the bank to address the desired byte in the service. These address lines from A1 through A19 are  also  used to  access a particular  location in  the upper bank. An additional  signal  called  Bus  High  Enable  (BHE –Active  Low)  is  used  to enable the  upper  memory  bank.  An  external  latch,  </a:t>
            </a:r>
            <a:r>
              <a:rPr lang="en-GB" dirty="0" err="1"/>
              <a:t>strobed</a:t>
            </a:r>
            <a:r>
              <a:rPr lang="en-GB" dirty="0"/>
              <a:t>  by  ALE,  grabs  the  BHE (Active  Low)  signal  that  holds  it  stable  for  the  rest  of  the  machine  cycle.  </a:t>
            </a:r>
          </a:p>
        </p:txBody>
      </p:sp>
    </p:spTree>
    <p:extLst>
      <p:ext uri="{BB962C8B-B14F-4D97-AF65-F5344CB8AC3E}">
        <p14:creationId xmlns:p14="http://schemas.microsoft.com/office/powerpoint/2010/main" val="545839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Table showing bus cycles and memory access</a:t>
            </a:r>
          </a:p>
        </p:txBody>
      </p:sp>
      <p:pic>
        <p:nvPicPr>
          <p:cNvPr id="4" name="Content Placeholder 3"/>
          <p:cNvPicPr>
            <a:picLocks noGrp="1" noChangeAspect="1"/>
          </p:cNvPicPr>
          <p:nvPr>
            <p:ph idx="1"/>
          </p:nvPr>
        </p:nvPicPr>
        <p:blipFill>
          <a:blip r:embed="rId2"/>
          <a:stretch>
            <a:fillRect/>
          </a:stretch>
        </p:blipFill>
        <p:spPr>
          <a:xfrm>
            <a:off x="2529733" y="3023519"/>
            <a:ext cx="7132534" cy="1603125"/>
          </a:xfrm>
          <a:prstGeom prst="rect">
            <a:avLst/>
          </a:prstGeom>
        </p:spPr>
      </p:pic>
    </p:spTree>
    <p:extLst>
      <p:ext uri="{BB962C8B-B14F-4D97-AF65-F5344CB8AC3E}">
        <p14:creationId xmlns:p14="http://schemas.microsoft.com/office/powerpoint/2010/main" val="173575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 cycle explained</a:t>
            </a:r>
          </a:p>
        </p:txBody>
      </p:sp>
      <p:sp>
        <p:nvSpPr>
          <p:cNvPr id="3" name="Content Placeholder 2"/>
          <p:cNvSpPr>
            <a:spLocks noGrp="1"/>
          </p:cNvSpPr>
          <p:nvPr>
            <p:ph idx="1"/>
          </p:nvPr>
        </p:nvSpPr>
        <p:spPr/>
        <p:txBody>
          <a:bodyPr/>
          <a:lstStyle/>
          <a:p>
            <a:r>
              <a:rPr lang="en-GB" dirty="0"/>
              <a:t>A bus cycle defines the basic operation that a microprocessor performs to communicate with external devices. Examples of bus cycles are memory read, memory write, input/output read and input/output write.</a:t>
            </a:r>
          </a:p>
        </p:txBody>
      </p:sp>
    </p:spTree>
    <p:extLst>
      <p:ext uri="{BB962C8B-B14F-4D97-AF65-F5344CB8AC3E}">
        <p14:creationId xmlns:p14="http://schemas.microsoft.com/office/powerpoint/2010/main" val="3599586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transfer</a:t>
            </a:r>
          </a:p>
        </p:txBody>
      </p:sp>
      <p:pic>
        <p:nvPicPr>
          <p:cNvPr id="4" name="Content Placeholder 3"/>
          <p:cNvPicPr>
            <a:picLocks noGrp="1" noChangeAspect="1"/>
          </p:cNvPicPr>
          <p:nvPr>
            <p:ph idx="1"/>
          </p:nvPr>
        </p:nvPicPr>
        <p:blipFill>
          <a:blip r:embed="rId2"/>
          <a:stretch>
            <a:fillRect/>
          </a:stretch>
        </p:blipFill>
        <p:spPr>
          <a:xfrm>
            <a:off x="1515362" y="2069431"/>
            <a:ext cx="5443848" cy="3215499"/>
          </a:xfrm>
          <a:prstGeom prst="rect">
            <a:avLst/>
          </a:prstGeom>
        </p:spPr>
      </p:pic>
    </p:spTree>
    <p:extLst>
      <p:ext uri="{BB962C8B-B14F-4D97-AF65-F5344CB8AC3E}">
        <p14:creationId xmlns:p14="http://schemas.microsoft.com/office/powerpoint/2010/main" val="861175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Transfer</a:t>
            </a:r>
          </a:p>
        </p:txBody>
      </p:sp>
      <p:pic>
        <p:nvPicPr>
          <p:cNvPr id="4" name="Content Placeholder 3"/>
          <p:cNvPicPr>
            <a:picLocks noGrp="1" noChangeAspect="1"/>
          </p:cNvPicPr>
          <p:nvPr>
            <p:ph idx="1"/>
          </p:nvPr>
        </p:nvPicPr>
        <p:blipFill>
          <a:blip r:embed="rId2"/>
          <a:stretch>
            <a:fillRect/>
          </a:stretch>
        </p:blipFill>
        <p:spPr>
          <a:xfrm>
            <a:off x="2315588" y="2009274"/>
            <a:ext cx="6165993" cy="3537695"/>
          </a:xfrm>
          <a:prstGeom prst="rect">
            <a:avLst/>
          </a:prstGeom>
        </p:spPr>
      </p:pic>
    </p:spTree>
    <p:extLst>
      <p:ext uri="{BB962C8B-B14F-4D97-AF65-F5344CB8AC3E}">
        <p14:creationId xmlns:p14="http://schemas.microsoft.com/office/powerpoint/2010/main" val="399319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transfer (16 bit or word transfer)</a:t>
            </a:r>
          </a:p>
        </p:txBody>
      </p:sp>
      <p:pic>
        <p:nvPicPr>
          <p:cNvPr id="4" name="Content Placeholder 3"/>
          <p:cNvPicPr>
            <a:picLocks noGrp="1" noChangeAspect="1"/>
          </p:cNvPicPr>
          <p:nvPr>
            <p:ph idx="1"/>
          </p:nvPr>
        </p:nvPicPr>
        <p:blipFill>
          <a:blip r:embed="rId2"/>
          <a:stretch>
            <a:fillRect/>
          </a:stretch>
        </p:blipFill>
        <p:spPr>
          <a:xfrm>
            <a:off x="2718520" y="2165684"/>
            <a:ext cx="5576510" cy="2907681"/>
          </a:xfrm>
          <a:prstGeom prst="rect">
            <a:avLst/>
          </a:prstGeom>
        </p:spPr>
      </p:pic>
    </p:spTree>
    <p:extLst>
      <p:ext uri="{BB962C8B-B14F-4D97-AF65-F5344CB8AC3E}">
        <p14:creationId xmlns:p14="http://schemas.microsoft.com/office/powerpoint/2010/main" val="823441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16 bit Data bus odd word transfer</a:t>
            </a:r>
          </a:p>
        </p:txBody>
      </p:sp>
      <p:pic>
        <p:nvPicPr>
          <p:cNvPr id="4" name="Content Placeholder 3"/>
          <p:cNvPicPr>
            <a:picLocks noGrp="1" noChangeAspect="1"/>
          </p:cNvPicPr>
          <p:nvPr>
            <p:ph idx="1"/>
          </p:nvPr>
        </p:nvPicPr>
        <p:blipFill>
          <a:blip r:embed="rId2"/>
          <a:stretch>
            <a:fillRect/>
          </a:stretch>
        </p:blipFill>
        <p:spPr>
          <a:xfrm>
            <a:off x="3802120" y="1482737"/>
            <a:ext cx="4587760" cy="4684688"/>
          </a:xfrm>
          <a:prstGeom prst="rect">
            <a:avLst/>
          </a:prstGeom>
        </p:spPr>
      </p:pic>
    </p:spTree>
    <p:extLst>
      <p:ext uri="{BB962C8B-B14F-4D97-AF65-F5344CB8AC3E}">
        <p14:creationId xmlns:p14="http://schemas.microsoft.com/office/powerpoint/2010/main" val="144575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Memory read</a:t>
            </a:r>
          </a:p>
        </p:txBody>
      </p:sp>
      <p:sp>
        <p:nvSpPr>
          <p:cNvPr id="3" name="Content Placeholder 2"/>
          <p:cNvSpPr>
            <a:spLocks noGrp="1"/>
          </p:cNvSpPr>
          <p:nvPr>
            <p:ph idx="1"/>
          </p:nvPr>
        </p:nvSpPr>
        <p:spPr>
          <a:xfrm>
            <a:off x="239349" y="1412776"/>
            <a:ext cx="5403462" cy="4824536"/>
          </a:xfrm>
        </p:spPr>
        <p:txBody>
          <a:bodyPr>
            <a:normAutofit fontScale="92500" lnSpcReduction="10000"/>
          </a:bodyPr>
          <a:lstStyle/>
          <a:p>
            <a:pPr marL="171450" indent="-171450"/>
            <a:r>
              <a:rPr lang="en-US" altLang="en-US" sz="1800" dirty="0"/>
              <a:t>A memory read operation is carried out in the following steps: </a:t>
            </a:r>
          </a:p>
          <a:p>
            <a:pPr marL="457200" lvl="1" indent="-171450"/>
            <a:r>
              <a:rPr lang="en-US" altLang="en-US" sz="1800" dirty="0">
                <a:solidFill>
                  <a:schemeClr val="tx1"/>
                </a:solidFill>
              </a:rPr>
              <a:t>The processor loads on the Address bus the address of the memory location to be read </a:t>
            </a:r>
            <a:r>
              <a:rPr lang="en-US" altLang="en-US" sz="1800" b="1" dirty="0">
                <a:solidFill>
                  <a:schemeClr val="tx1"/>
                </a:solidFill>
              </a:rPr>
              <a:t>(Step 1)</a:t>
            </a:r>
            <a:r>
              <a:rPr lang="en-US" altLang="en-US" sz="1800" dirty="0">
                <a:solidFill>
                  <a:schemeClr val="tx1"/>
                </a:solidFill>
              </a:rPr>
              <a:t>.</a:t>
            </a:r>
          </a:p>
          <a:p>
            <a:pPr marL="742950" lvl="2" indent="-171450"/>
            <a:r>
              <a:rPr lang="en-US" altLang="en-US" sz="1800" dirty="0">
                <a:solidFill>
                  <a:schemeClr val="tx1"/>
                </a:solidFill>
              </a:rPr>
              <a:t>Some of the address lines select the memory devices that owns the memory location to be read </a:t>
            </a:r>
            <a:r>
              <a:rPr lang="en-US" altLang="en-US" sz="1800" b="1" dirty="0">
                <a:solidFill>
                  <a:schemeClr val="tx1"/>
                </a:solidFill>
              </a:rPr>
              <a:t>(Step 1a)</a:t>
            </a:r>
            <a:r>
              <a:rPr lang="en-US" altLang="en-US" sz="1800" dirty="0">
                <a:solidFill>
                  <a:schemeClr val="tx1"/>
                </a:solidFill>
              </a:rPr>
              <a:t>, while the rest point to the required memory location within the memory device.  </a:t>
            </a:r>
          </a:p>
          <a:p>
            <a:pPr marL="457200" lvl="1" indent="-171450"/>
            <a:r>
              <a:rPr lang="en-US" altLang="en-US" sz="1800" dirty="0">
                <a:solidFill>
                  <a:schemeClr val="tx1"/>
                </a:solidFill>
              </a:rPr>
              <a:t>The processor activates the Read (RD) signal </a:t>
            </a:r>
            <a:r>
              <a:rPr lang="en-US" altLang="en-US" sz="1800" b="1" dirty="0">
                <a:solidFill>
                  <a:schemeClr val="tx1"/>
                </a:solidFill>
              </a:rPr>
              <a:t>(Step 2)</a:t>
            </a:r>
            <a:r>
              <a:rPr lang="en-US" altLang="en-US" sz="1800" dirty="0">
                <a:solidFill>
                  <a:schemeClr val="tx1"/>
                </a:solidFill>
              </a:rPr>
              <a:t>.</a:t>
            </a:r>
          </a:p>
          <a:p>
            <a:pPr marL="742950" lvl="2" indent="-171450"/>
            <a:r>
              <a:rPr lang="en-US" altLang="en-US" sz="1800" dirty="0">
                <a:solidFill>
                  <a:schemeClr val="tx1"/>
                </a:solidFill>
              </a:rPr>
              <a:t>The selected memory device loads on the data bus the content of the memory location specified by the address bus </a:t>
            </a:r>
            <a:r>
              <a:rPr lang="en-US" altLang="en-US" sz="1800" b="1" dirty="0">
                <a:solidFill>
                  <a:schemeClr val="tx1"/>
                </a:solidFill>
              </a:rPr>
              <a:t>(Step 3)</a:t>
            </a:r>
            <a:r>
              <a:rPr lang="en-US" altLang="en-US" sz="1800" dirty="0">
                <a:solidFill>
                  <a:schemeClr val="tx1"/>
                </a:solidFill>
              </a:rPr>
              <a:t>.</a:t>
            </a:r>
          </a:p>
          <a:p>
            <a:pPr marL="457200" lvl="1" indent="-171450"/>
            <a:r>
              <a:rPr lang="en-US" altLang="en-US" sz="1800" dirty="0">
                <a:solidFill>
                  <a:schemeClr val="tx1"/>
                </a:solidFill>
              </a:rPr>
              <a:t>The processor reads the data from the data bus, and resets the RD signal </a:t>
            </a:r>
            <a:r>
              <a:rPr lang="en-US" altLang="en-US" sz="1800" b="1" dirty="0">
                <a:solidFill>
                  <a:schemeClr val="tx1"/>
                </a:solidFill>
              </a:rPr>
              <a:t>(Step 4)</a:t>
            </a:r>
            <a:r>
              <a:rPr lang="en-US" altLang="en-US" sz="1800" dirty="0">
                <a:solidFill>
                  <a:schemeClr val="tx1"/>
                </a:solidFill>
              </a:rPr>
              <a:t>.</a:t>
            </a:r>
          </a:p>
          <a:p>
            <a:endParaRPr lang="en-GB" sz="1800" dirty="0"/>
          </a:p>
        </p:txBody>
      </p:sp>
      <p:graphicFrame>
        <p:nvGraphicFramePr>
          <p:cNvPr id="4" name="Object 4"/>
          <p:cNvGraphicFramePr>
            <a:graphicFrameLocks noChangeAspect="1"/>
          </p:cNvGraphicFramePr>
          <p:nvPr>
            <p:extLst>
              <p:ext uri="{D42A27DB-BD31-4B8C-83A1-F6EECF244321}">
                <p14:modId xmlns:p14="http://schemas.microsoft.com/office/powerpoint/2010/main" val="2351361066"/>
              </p:ext>
            </p:extLst>
          </p:nvPr>
        </p:nvGraphicFramePr>
        <p:xfrm>
          <a:off x="5642811" y="1815770"/>
          <a:ext cx="6248400" cy="2474913"/>
        </p:xfrm>
        <a:graphic>
          <a:graphicData uri="http://schemas.openxmlformats.org/presentationml/2006/ole">
            <mc:AlternateContent xmlns:mc="http://schemas.openxmlformats.org/markup-compatibility/2006">
              <mc:Choice xmlns:v="urn:schemas-microsoft-com:vml" Requires="v">
                <p:oleObj name="VISIO" r:id="rId2" imgW="5582252" imgH="2344576" progId="Visio.Drawing.6">
                  <p:embed/>
                </p:oleObj>
              </mc:Choice>
              <mc:Fallback>
                <p:oleObj name="VISIO" r:id="rId2" imgW="5582252" imgH="2344576"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2811" y="1815770"/>
                        <a:ext cx="6248400" cy="2474913"/>
                      </a:xfrm>
                      <a:prstGeom prst="rect">
                        <a:avLst/>
                      </a:prstGeom>
                      <a:noFill/>
                      <a:ln>
                        <a:noFill/>
                      </a:ln>
                      <a:effectLst/>
                      <a:extLst>
                        <a:ext uri="{909E8E84-426E-40DD-AFC4-6F175D3DCCD1}">
                          <a14:hiddenFill xmlns:a14="http://schemas.microsoft.com/office/drawing/2010/main">
                            <a:solidFill>
                              <a:schemeClr val="bg1">
                                <a:alpha val="50195"/>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46912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Memory write</a:t>
            </a:r>
          </a:p>
        </p:txBody>
      </p:sp>
      <p:sp>
        <p:nvSpPr>
          <p:cNvPr id="3" name="Content Placeholder 2"/>
          <p:cNvSpPr>
            <a:spLocks noGrp="1"/>
          </p:cNvSpPr>
          <p:nvPr>
            <p:ph idx="1"/>
          </p:nvPr>
        </p:nvSpPr>
        <p:spPr>
          <a:xfrm>
            <a:off x="239349" y="1412776"/>
            <a:ext cx="5198925" cy="4824536"/>
          </a:xfrm>
        </p:spPr>
        <p:txBody>
          <a:bodyPr>
            <a:noAutofit/>
          </a:bodyPr>
          <a:lstStyle/>
          <a:p>
            <a:pPr marL="171450" indent="-171450"/>
            <a:r>
              <a:rPr lang="en-US" altLang="en-US" sz="1700" dirty="0"/>
              <a:t>A memory write operation is carried out in the following steps: </a:t>
            </a:r>
          </a:p>
          <a:p>
            <a:pPr marL="457200" lvl="1" indent="-171450"/>
            <a:r>
              <a:rPr lang="en-US" altLang="en-US" sz="1700" dirty="0">
                <a:solidFill>
                  <a:schemeClr val="tx1"/>
                </a:solidFill>
              </a:rPr>
              <a:t>The processor loads on the Address bus the address of the memory location </a:t>
            </a:r>
            <a:r>
              <a:rPr lang="en-US" altLang="en-US" sz="1700" b="1" dirty="0">
                <a:solidFill>
                  <a:schemeClr val="tx1"/>
                </a:solidFill>
              </a:rPr>
              <a:t>(Step 1)</a:t>
            </a:r>
            <a:r>
              <a:rPr lang="en-US" altLang="en-US" sz="1700" dirty="0">
                <a:solidFill>
                  <a:schemeClr val="tx1"/>
                </a:solidFill>
              </a:rPr>
              <a:t>.</a:t>
            </a:r>
          </a:p>
          <a:p>
            <a:pPr marL="742950" lvl="2" indent="-171450"/>
            <a:r>
              <a:rPr lang="en-US" altLang="en-US" sz="1700" dirty="0">
                <a:solidFill>
                  <a:schemeClr val="tx1"/>
                </a:solidFill>
              </a:rPr>
              <a:t>Some of the address lines select the memory devices that owns the memory location to be written </a:t>
            </a:r>
            <a:r>
              <a:rPr lang="en-US" altLang="en-US" sz="1700" b="1" dirty="0">
                <a:solidFill>
                  <a:schemeClr val="tx1"/>
                </a:solidFill>
              </a:rPr>
              <a:t>(Step 1a)</a:t>
            </a:r>
            <a:r>
              <a:rPr lang="en-US" altLang="en-US" sz="1700" dirty="0">
                <a:solidFill>
                  <a:schemeClr val="tx1"/>
                </a:solidFill>
              </a:rPr>
              <a:t>, while the rest point to the required memory location within the memory device.  </a:t>
            </a:r>
          </a:p>
          <a:p>
            <a:pPr marL="457200" lvl="1" indent="-171450"/>
            <a:r>
              <a:rPr lang="en-US" altLang="en-US" sz="1700" dirty="0">
                <a:solidFill>
                  <a:schemeClr val="tx1"/>
                </a:solidFill>
              </a:rPr>
              <a:t>The processor loads on the data bus the data to be written </a:t>
            </a:r>
            <a:r>
              <a:rPr lang="en-US" altLang="en-US" sz="1700" b="1" dirty="0">
                <a:solidFill>
                  <a:schemeClr val="tx1"/>
                </a:solidFill>
              </a:rPr>
              <a:t>(Step 2)</a:t>
            </a:r>
            <a:r>
              <a:rPr lang="en-US" altLang="en-US" sz="1700" dirty="0">
                <a:solidFill>
                  <a:schemeClr val="tx1"/>
                </a:solidFill>
              </a:rPr>
              <a:t>.</a:t>
            </a:r>
          </a:p>
          <a:p>
            <a:pPr marL="457200" lvl="1" indent="-171450"/>
            <a:r>
              <a:rPr lang="en-US" altLang="en-US" sz="1700" dirty="0">
                <a:solidFill>
                  <a:schemeClr val="tx1"/>
                </a:solidFill>
              </a:rPr>
              <a:t>The processor activates the Write (WR) signal </a:t>
            </a:r>
            <a:r>
              <a:rPr lang="en-US" altLang="en-US" sz="1700" b="1" dirty="0">
                <a:solidFill>
                  <a:schemeClr val="tx1"/>
                </a:solidFill>
              </a:rPr>
              <a:t>(Step 3)</a:t>
            </a:r>
            <a:r>
              <a:rPr lang="en-US" altLang="en-US" sz="1700" dirty="0">
                <a:solidFill>
                  <a:schemeClr val="tx1"/>
                </a:solidFill>
              </a:rPr>
              <a:t>.</a:t>
            </a:r>
          </a:p>
          <a:p>
            <a:pPr marL="742950" lvl="2" indent="-171450"/>
            <a:r>
              <a:rPr lang="en-US" altLang="en-US" sz="1700" dirty="0">
                <a:solidFill>
                  <a:schemeClr val="tx1"/>
                </a:solidFill>
              </a:rPr>
              <a:t>The data at the data bus is stored in the memory location specified by the address bus </a:t>
            </a:r>
            <a:r>
              <a:rPr lang="en-US" altLang="en-US" sz="1700" b="1" dirty="0">
                <a:solidFill>
                  <a:schemeClr val="tx1"/>
                </a:solidFill>
              </a:rPr>
              <a:t>(Step 4)</a:t>
            </a:r>
            <a:r>
              <a:rPr lang="en-US" altLang="en-US" sz="1700" dirty="0">
                <a:solidFill>
                  <a:schemeClr val="tx1"/>
                </a:solidFill>
              </a:rPr>
              <a:t>.</a:t>
            </a:r>
          </a:p>
          <a:p>
            <a:pPr marL="457200" lvl="1" indent="-171450"/>
            <a:endParaRPr lang="en-US" altLang="en-US" sz="1700" dirty="0">
              <a:solidFill>
                <a:schemeClr val="tx1"/>
              </a:solidFill>
            </a:endParaRPr>
          </a:p>
          <a:p>
            <a:endParaRPr lang="en-GB" sz="1700" dirty="0"/>
          </a:p>
        </p:txBody>
      </p:sp>
      <p:graphicFrame>
        <p:nvGraphicFramePr>
          <p:cNvPr id="4" name="Object 4"/>
          <p:cNvGraphicFramePr>
            <a:graphicFrameLocks noChangeAspect="1"/>
          </p:cNvGraphicFramePr>
          <p:nvPr>
            <p:extLst>
              <p:ext uri="{D42A27DB-BD31-4B8C-83A1-F6EECF244321}">
                <p14:modId xmlns:p14="http://schemas.microsoft.com/office/powerpoint/2010/main" val="3753017348"/>
              </p:ext>
            </p:extLst>
          </p:nvPr>
        </p:nvGraphicFramePr>
        <p:xfrm>
          <a:off x="5795210" y="1412776"/>
          <a:ext cx="6172200" cy="2981325"/>
        </p:xfrm>
        <a:graphic>
          <a:graphicData uri="http://schemas.openxmlformats.org/presentationml/2006/ole">
            <mc:AlternateContent xmlns:mc="http://schemas.openxmlformats.org/markup-compatibility/2006">
              <mc:Choice xmlns:v="urn:schemas-microsoft-com:vml" Requires="v">
                <p:oleObj name="VISIO" r:id="rId2" imgW="5582252" imgH="2685384" progId="Visio.Drawing.6">
                  <p:embed/>
                </p:oleObj>
              </mc:Choice>
              <mc:Fallback>
                <p:oleObj name="VISIO" r:id="rId2" imgW="5582252" imgH="2685384"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210" y="1412776"/>
                        <a:ext cx="6172200" cy="2981325"/>
                      </a:xfrm>
                      <a:prstGeom prst="rect">
                        <a:avLst/>
                      </a:prstGeom>
                      <a:noFill/>
                      <a:ln>
                        <a:noFill/>
                      </a:ln>
                      <a:effectLst/>
                      <a:extLst>
                        <a:ext uri="{909E8E84-426E-40DD-AFC4-6F175D3DCCD1}">
                          <a14:hiddenFill xmlns:a14="http://schemas.microsoft.com/office/drawing/2010/main">
                            <a:solidFill>
                              <a:schemeClr val="bg1">
                                <a:alpha val="50195"/>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83585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11DB1-9B51-5E3A-2609-2F801CE739DD}"/>
              </a:ext>
            </a:extLst>
          </p:cNvPr>
          <p:cNvSpPr>
            <a:spLocks noGrp="1"/>
          </p:cNvSpPr>
          <p:nvPr>
            <p:ph type="title"/>
          </p:nvPr>
        </p:nvSpPr>
        <p:spPr/>
        <p:txBody>
          <a:bodyPr>
            <a:noAutofit/>
          </a:bodyPr>
          <a:lstStyle/>
          <a:p>
            <a:r>
              <a:rPr lang="en-US" sz="4400" dirty="0"/>
              <a:t>The process of accessing memory involves these steps:</a:t>
            </a:r>
            <a:endParaRPr lang="en-GB" sz="4400" dirty="0"/>
          </a:p>
        </p:txBody>
      </p:sp>
      <p:sp>
        <p:nvSpPr>
          <p:cNvPr id="4" name="Rectangle 1">
            <a:extLst>
              <a:ext uri="{FF2B5EF4-FFF2-40B4-BE49-F238E27FC236}">
                <a16:creationId xmlns:a16="http://schemas.microsoft.com/office/drawing/2014/main" id="{3AE01AD6-8A86-319B-A2B8-3DFF7F293F3B}"/>
              </a:ext>
            </a:extLst>
          </p:cNvPr>
          <p:cNvSpPr>
            <a:spLocks noGrp="1" noChangeArrowheads="1"/>
          </p:cNvSpPr>
          <p:nvPr>
            <p:ph idx="1"/>
          </p:nvPr>
        </p:nvSpPr>
        <p:spPr bwMode="auto">
          <a:xfrm>
            <a:off x="239350" y="1624442"/>
            <a:ext cx="1156076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rPr>
              <a:t>1. Address Generation:</a:t>
            </a:r>
            <a:r>
              <a:rPr kumimoji="0" lang="en-US" altLang="en-US" sz="2800" b="0" i="0" u="none" strike="noStrike" cap="none" normalizeH="0" baseline="0" dirty="0">
                <a:ln>
                  <a:noFill/>
                </a:ln>
                <a:solidFill>
                  <a:schemeClr val="tx1"/>
                </a:solidFill>
                <a:effectLst/>
              </a:rPr>
              <a:t> The CPU generates the address of the memory location it wants to access.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rPr>
              <a:t>2. Address Transmission:</a:t>
            </a:r>
            <a:r>
              <a:rPr kumimoji="0" lang="en-US" altLang="en-US" sz="2800" b="0" i="0" u="none" strike="noStrike" cap="none" normalizeH="0" baseline="0" dirty="0">
                <a:ln>
                  <a:noFill/>
                </a:ln>
                <a:solidFill>
                  <a:schemeClr val="tx1"/>
                </a:solidFill>
                <a:effectLst/>
              </a:rPr>
              <a:t> The address is sent over the address bus to the memory.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rPr>
              <a:t>3. Memory Selection:</a:t>
            </a:r>
            <a:r>
              <a:rPr kumimoji="0" lang="en-US" altLang="en-US" sz="2800" b="0" i="0" u="none" strike="noStrike" cap="none" normalizeH="0" baseline="0" dirty="0">
                <a:ln>
                  <a:noFill/>
                </a:ln>
                <a:solidFill>
                  <a:schemeClr val="tx1"/>
                </a:solidFill>
                <a:effectLst/>
              </a:rPr>
              <a:t> The memory chip with the matching address is selected.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rPr>
              <a:t>4. Data Transfer:</a:t>
            </a:r>
            <a:r>
              <a:rPr kumimoji="0" lang="en-US" altLang="en-US" sz="2800" b="0" i="0" u="none" strike="noStrike" cap="none" normalizeH="0" baseline="0" dirty="0">
                <a:ln>
                  <a:noFill/>
                </a:ln>
                <a:solidFill>
                  <a:schemeClr val="tx1"/>
                </a:solidFill>
                <a:effectLst/>
              </a:rPr>
              <a:t> The selected memory chip either reads data from its location or writes data to it.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1" i="0" u="none" strike="noStrike" cap="none" normalizeH="0" baseline="0" dirty="0">
                <a:ln>
                  <a:noFill/>
                </a:ln>
                <a:solidFill>
                  <a:schemeClr val="tx1"/>
                </a:solidFill>
                <a:effectLst/>
              </a:rPr>
              <a:t>5. Data Transmission:</a:t>
            </a:r>
            <a:r>
              <a:rPr kumimoji="0" lang="en-US" altLang="en-US" sz="2800" b="0" i="0" u="none" strike="noStrike" cap="none" normalizeH="0" baseline="0" dirty="0">
                <a:ln>
                  <a:noFill/>
                </a:ln>
                <a:solidFill>
                  <a:schemeClr val="tx1"/>
                </a:solidFill>
                <a:effectLst/>
              </a:rPr>
              <a:t> The data is transferred over the data bus to or from the CPU. </a:t>
            </a:r>
          </a:p>
        </p:txBody>
      </p:sp>
    </p:spTree>
    <p:extLst>
      <p:ext uri="{BB962C8B-B14F-4D97-AF65-F5344CB8AC3E}">
        <p14:creationId xmlns:p14="http://schemas.microsoft.com/office/powerpoint/2010/main" val="1347585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Address Decoding</a:t>
            </a:r>
          </a:p>
        </p:txBody>
      </p:sp>
      <p:sp>
        <p:nvSpPr>
          <p:cNvPr id="3" name="Content Placeholder 2"/>
          <p:cNvSpPr>
            <a:spLocks noGrp="1"/>
          </p:cNvSpPr>
          <p:nvPr>
            <p:ph idx="1"/>
          </p:nvPr>
        </p:nvSpPr>
        <p:spPr/>
        <p:txBody>
          <a:bodyPr>
            <a:noAutofit/>
          </a:bodyPr>
          <a:lstStyle/>
          <a:p>
            <a:pPr marL="0" indent="0" algn="just">
              <a:lnSpc>
                <a:spcPct val="110000"/>
              </a:lnSpc>
              <a:buNone/>
            </a:pPr>
            <a:r>
              <a:rPr lang="en-US" sz="2000" b="1" dirty="0"/>
              <a:t>Address Decoding:</a:t>
            </a:r>
            <a:r>
              <a:rPr lang="en-US" sz="2000" dirty="0"/>
              <a:t> This is the process of selecting a specific memory location. The computer uses address decoding to locate specific memory locations.</a:t>
            </a:r>
            <a:endParaRPr lang="en-US" altLang="en-US" sz="2000" dirty="0"/>
          </a:p>
          <a:p>
            <a:pPr marL="0" indent="0" algn="just">
              <a:lnSpc>
                <a:spcPct val="110000"/>
              </a:lnSpc>
              <a:buNone/>
            </a:pPr>
            <a:r>
              <a:rPr lang="en-US" altLang="en-US" sz="2000" dirty="0"/>
              <a:t>The physical address space, or memory map, of a microprocessor refers to the range of addresses of memory location that can accessed by the microprocessor. The size of the address space depends on the number of address lines of the microprocessor.  </a:t>
            </a:r>
          </a:p>
          <a:p>
            <a:pPr marL="0" indent="0" algn="just">
              <a:lnSpc>
                <a:spcPct val="110000"/>
              </a:lnSpc>
              <a:buNone/>
            </a:pPr>
            <a:r>
              <a:rPr lang="en-US" altLang="en-US" sz="2000" dirty="0"/>
              <a:t>At least two memory devices are required in a microprocessor system: one for the ROM and one for the RAM. In an 8086 the high addresses in the memory map should always be occupied by a ROM, while the low addresses in the memory map should always be occupied by a RAM. Address decoding is required in order to enable the connection of more than one memory devices on the microprocessor. Each device will occupy a unique area in the memory map.</a:t>
            </a:r>
          </a:p>
          <a:p>
            <a:pPr marL="0" indent="0" algn="just">
              <a:lnSpc>
                <a:spcPct val="110000"/>
              </a:lnSpc>
              <a:buNone/>
            </a:pPr>
            <a:r>
              <a:rPr lang="en-US" altLang="en-US" sz="2000" dirty="0"/>
              <a:t>A memory system is not fully decoded if some of the address lines are not used by the address decoding circuit or memory. In this case a memory device will occupy more than one sections in the memory map. This is referred as memory mirroring or memory imaging.</a:t>
            </a:r>
          </a:p>
          <a:p>
            <a:pPr marL="0" indent="0" algn="just">
              <a:buNone/>
            </a:pPr>
            <a:endParaRPr lang="en-GB" sz="2000" dirty="0"/>
          </a:p>
        </p:txBody>
      </p:sp>
    </p:spTree>
    <p:extLst>
      <p:ext uri="{BB962C8B-B14F-4D97-AF65-F5344CB8AC3E}">
        <p14:creationId xmlns:p14="http://schemas.microsoft.com/office/powerpoint/2010/main" val="1223330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Simplified memory map of 8086-DATS </a:t>
            </a:r>
          </a:p>
        </p:txBody>
      </p:sp>
      <p:pic>
        <p:nvPicPr>
          <p:cNvPr id="4" name="Picture 3"/>
          <p:cNvPicPr>
            <a:picLocks noChangeAspect="1"/>
          </p:cNvPicPr>
          <p:nvPr/>
        </p:nvPicPr>
        <p:blipFill>
          <a:blip r:embed="rId2"/>
          <a:stretch>
            <a:fillRect/>
          </a:stretch>
        </p:blipFill>
        <p:spPr>
          <a:xfrm>
            <a:off x="4518957" y="1602934"/>
            <a:ext cx="3154085" cy="4444219"/>
          </a:xfrm>
          <a:prstGeom prst="rect">
            <a:avLst/>
          </a:prstGeom>
        </p:spPr>
      </p:pic>
    </p:spTree>
    <p:extLst>
      <p:ext uri="{BB962C8B-B14F-4D97-AF65-F5344CB8AC3E}">
        <p14:creationId xmlns:p14="http://schemas.microsoft.com/office/powerpoint/2010/main" val="1210270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I/O Interfacing</a:t>
            </a:r>
          </a:p>
        </p:txBody>
      </p:sp>
      <p:sp>
        <p:nvSpPr>
          <p:cNvPr id="3" name="Content Placeholder 2"/>
          <p:cNvSpPr>
            <a:spLocks noGrp="1"/>
          </p:cNvSpPr>
          <p:nvPr>
            <p:ph idx="1"/>
          </p:nvPr>
        </p:nvSpPr>
        <p:spPr/>
        <p:txBody>
          <a:bodyPr>
            <a:normAutofit fontScale="77500" lnSpcReduction="20000"/>
          </a:bodyPr>
          <a:lstStyle/>
          <a:p>
            <a:pPr marL="0" indent="0" algn="just">
              <a:buNone/>
            </a:pPr>
            <a:r>
              <a:rPr lang="en-GB" dirty="0"/>
              <a:t>Some microprocessors use the same address space for both memory and input/output devices. In this arrangement all instructions that are capable of accessing the memory locations can also access the input/output devices. This can be called </a:t>
            </a:r>
            <a:r>
              <a:rPr lang="en-GB" b="1" dirty="0"/>
              <a:t>Memory-mapped I/O</a:t>
            </a:r>
            <a:r>
              <a:rPr lang="en-GB" dirty="0"/>
              <a:t>. I.e. </a:t>
            </a:r>
            <a:r>
              <a:rPr lang="en-US" b="1" dirty="0"/>
              <a:t>Memory-Mapped I/O </a:t>
            </a:r>
            <a:r>
              <a:rPr lang="en-US" dirty="0"/>
              <a:t>is a way to treat I/O devices (like keyboards, mice, and printers) as if they were part of the computer's memory.</a:t>
            </a:r>
            <a:endParaRPr lang="en-GB" dirty="0"/>
          </a:p>
          <a:p>
            <a:pPr marL="0" indent="0" algn="just">
              <a:buNone/>
            </a:pPr>
            <a:r>
              <a:rPr lang="en-GB" dirty="0"/>
              <a:t>However, 8086 microprocessor permits the establishment of two separate address spaces for memory and input/output devices. Having separate address space for the input/output devices is called </a:t>
            </a:r>
            <a:r>
              <a:rPr lang="en-GB" b="1" dirty="0"/>
              <a:t>direct I/O or Isolated  I/O</a:t>
            </a:r>
            <a:r>
              <a:rPr lang="en-GB" dirty="0"/>
              <a:t>.</a:t>
            </a:r>
          </a:p>
        </p:txBody>
      </p:sp>
    </p:spTree>
    <p:extLst>
      <p:ext uri="{BB962C8B-B14F-4D97-AF65-F5344CB8AC3E}">
        <p14:creationId xmlns:p14="http://schemas.microsoft.com/office/powerpoint/2010/main" val="1014449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Bus timing</a:t>
            </a:r>
          </a:p>
        </p:txBody>
      </p:sp>
      <p:sp>
        <p:nvSpPr>
          <p:cNvPr id="4" name="Content Placeholder 3"/>
          <p:cNvSpPr>
            <a:spLocks noGrp="1"/>
          </p:cNvSpPr>
          <p:nvPr>
            <p:ph idx="1"/>
          </p:nvPr>
        </p:nvSpPr>
        <p:spPr/>
        <p:txBody>
          <a:bodyPr>
            <a:noAutofit/>
          </a:bodyPr>
          <a:lstStyle/>
          <a:p>
            <a:r>
              <a:rPr lang="en-US" sz="2800" dirty="0"/>
              <a:t>The three buses </a:t>
            </a:r>
            <a:r>
              <a:rPr lang="en-US" sz="2400" dirty="0"/>
              <a:t>of</a:t>
            </a:r>
            <a:r>
              <a:rPr lang="en-US" sz="2800" dirty="0"/>
              <a:t> the 8086 and 8088—address, data, and control—function exactly the same way as any other microprocessor. If data are written to the memory, the microprocessor outputs the memory address on the address bus, outputs the data to be written into memory on the data bus, and issues a write (WR) to memory and IO/M= 0 for the 8088 and M/IO= 1 for the 8086. If data are read from the memory, the microprocessor outputs the memory address on the address bus, issues a read memory signal (RD), and accepts the data via the data bus.</a:t>
            </a:r>
          </a:p>
          <a:p>
            <a:r>
              <a:rPr lang="en-US" sz="2800" b="1" dirty="0"/>
              <a:t>Bus Timing:</a:t>
            </a:r>
            <a:r>
              <a:rPr lang="en-US" sz="2800" dirty="0"/>
              <a:t> This refers to the timing signals that control the flow of data on the bus</a:t>
            </a:r>
            <a:r>
              <a:rPr lang="en-US" sz="1200" dirty="0"/>
              <a:t>.</a:t>
            </a:r>
            <a:endParaRPr lang="en-US" sz="2800" dirty="0"/>
          </a:p>
        </p:txBody>
      </p:sp>
    </p:spTree>
    <p:extLst>
      <p:ext uri="{BB962C8B-B14F-4D97-AF65-F5344CB8AC3E}">
        <p14:creationId xmlns:p14="http://schemas.microsoft.com/office/powerpoint/2010/main" val="9563899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 Timing Continues</a:t>
            </a:r>
          </a:p>
        </p:txBody>
      </p:sp>
      <p:sp>
        <p:nvSpPr>
          <p:cNvPr id="3" name="Content Placeholder 2"/>
          <p:cNvSpPr>
            <a:spLocks noGrp="1"/>
          </p:cNvSpPr>
          <p:nvPr>
            <p:ph idx="1"/>
          </p:nvPr>
        </p:nvSpPr>
        <p:spPr/>
        <p:txBody>
          <a:bodyPr>
            <a:normAutofit fontScale="70000" lnSpcReduction="20000"/>
          </a:bodyPr>
          <a:lstStyle/>
          <a:p>
            <a:r>
              <a:rPr lang="en-US" dirty="0"/>
              <a:t>The 8086/8088 microprocessors use the memory and I/O in periods called bus cycles. Each bus cycle equals four system-clocking periods (T states). Newer microprocessors divide the bus cycle into as few as two clocking periods. If the clock is operated at 5 MHz (the basic operating frequency for these two microprocessors), one 8086/8088 bus cycle is complete in 800 ns. This means that the microprocessor reads or writes data between itself and memory or I/O at a maximum rate of 1.25 million times a second. (Because of the internal queue, the 8086/8088 can execute 2.5 million instructions per second [MIPS] in bursts.) </a:t>
            </a:r>
          </a:p>
          <a:p>
            <a:r>
              <a:rPr lang="en-US" dirty="0"/>
              <a:t>Newer versions of microprocessors operate at much higher transfer rates due to higher clock frequencies.</a:t>
            </a:r>
          </a:p>
        </p:txBody>
      </p:sp>
    </p:spTree>
    <p:extLst>
      <p:ext uri="{BB962C8B-B14F-4D97-AF65-F5344CB8AC3E}">
        <p14:creationId xmlns:p14="http://schemas.microsoft.com/office/powerpoint/2010/main" val="3811169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I/O instructions</a:t>
            </a:r>
          </a:p>
        </p:txBody>
      </p:sp>
      <p:sp>
        <p:nvSpPr>
          <p:cNvPr id="3" name="Content Placeholder 2"/>
          <p:cNvSpPr>
            <a:spLocks noGrp="1"/>
          </p:cNvSpPr>
          <p:nvPr>
            <p:ph idx="1"/>
          </p:nvPr>
        </p:nvSpPr>
        <p:spPr/>
        <p:txBody>
          <a:bodyPr>
            <a:noAutofit/>
          </a:bodyPr>
          <a:lstStyle/>
          <a:p>
            <a:r>
              <a:rPr lang="en-US" sz="2000" dirty="0"/>
              <a:t>The instruction set contains one type of instruction that transfers information to an I/O device (OUT) and another to read information from an I/O device (IN). Instructions (INS and OUTS, found on all versions except the (8086/8088) are also provided to transfer strings of data between the memory and an I/O device. </a:t>
            </a:r>
          </a:p>
          <a:p>
            <a:r>
              <a:rPr lang="en-US" sz="2000" dirty="0"/>
              <a:t>Instructions that transfer data between an I/O device and the microprocessor’s accumulator</a:t>
            </a:r>
          </a:p>
          <a:p>
            <a:r>
              <a:rPr lang="en-US" sz="2000" dirty="0"/>
              <a:t>(AL, AX, or EAX) are called IN and OUT. The I/O address is stored in register DX as a 16-bit I/O address or in the byte (p8) immediately following the </a:t>
            </a:r>
            <a:r>
              <a:rPr lang="en-US" sz="2000" dirty="0" err="1"/>
              <a:t>opcode</a:t>
            </a:r>
            <a:r>
              <a:rPr lang="en-US" sz="2000" dirty="0"/>
              <a:t> as an 8-bit I/O address. Intel calls the 8-bit form (p8) a fixed address because it is stored with the instruction, usually in a ROM. </a:t>
            </a:r>
          </a:p>
          <a:p>
            <a:r>
              <a:rPr lang="en-US" sz="2000" dirty="0"/>
              <a:t>The 16-bit I/O address in DX is called a variable address because it is stored in a DX, and then used to address the I/O device. Other instructions that use DX to address I/O are the INS and OUTS instructions. I/O ports are 8 bits in width, so whenever a 16-bit port is accessed, two consecutive 8-bit ports are addressed. A 32-bit I/O port is four 8-bit ports. </a:t>
            </a:r>
          </a:p>
          <a:p>
            <a:r>
              <a:rPr lang="en-US" sz="2000" b="1" dirty="0"/>
              <a:t>I/O Instructions:</a:t>
            </a:r>
            <a:r>
              <a:rPr lang="en-US" sz="2000" dirty="0"/>
              <a:t> These are special instructions that the computer uses to communicate with I/O devices.</a:t>
            </a:r>
          </a:p>
          <a:p>
            <a:endParaRPr lang="en-GB" sz="2000" dirty="0"/>
          </a:p>
        </p:txBody>
      </p:sp>
    </p:spTree>
    <p:extLst>
      <p:ext uri="{BB962C8B-B14F-4D97-AF65-F5344CB8AC3E}">
        <p14:creationId xmlns:p14="http://schemas.microsoft.com/office/powerpoint/2010/main" val="2824853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Address size expansion</a:t>
            </a:r>
          </a:p>
        </p:txBody>
      </p:sp>
      <p:sp>
        <p:nvSpPr>
          <p:cNvPr id="3" name="Content Placeholder 2"/>
          <p:cNvSpPr>
            <a:spLocks noGrp="1"/>
          </p:cNvSpPr>
          <p:nvPr>
            <p:ph idx="1"/>
          </p:nvPr>
        </p:nvSpPr>
        <p:spPr/>
        <p:txBody>
          <a:bodyPr>
            <a:normAutofit fontScale="77500" lnSpcReduction="20000"/>
          </a:bodyPr>
          <a:lstStyle/>
          <a:p>
            <a:pPr marL="230188" indent="-230188" algn="just">
              <a:lnSpc>
                <a:spcPct val="140000"/>
              </a:lnSpc>
            </a:pPr>
            <a:r>
              <a:rPr lang="en-US" altLang="en-US" dirty="0">
                <a:latin typeface="Times New Roman" panose="02020603050405020304" pitchFamily="18" charset="0"/>
                <a:cs typeface="Times New Roman" panose="02020603050405020304" pitchFamily="18" charset="0"/>
              </a:rPr>
              <a:t>More than one memory devices can be used to expand the number of memory locations on the system. </a:t>
            </a:r>
          </a:p>
          <a:p>
            <a:pPr marL="230188" indent="-230188" algn="just">
              <a:lnSpc>
                <a:spcPct val="140000"/>
              </a:lnSpc>
            </a:pPr>
            <a:r>
              <a:rPr lang="en-US" altLang="en-US" dirty="0">
                <a:latin typeface="Times New Roman" panose="02020603050405020304" pitchFamily="18" charset="0"/>
                <a:cs typeface="Times New Roman" panose="02020603050405020304" pitchFamily="18" charset="0"/>
              </a:rPr>
              <a:t>To expand the word size do the following:</a:t>
            </a:r>
          </a:p>
          <a:p>
            <a:pPr marL="801687" lvl="1" indent="-457200" algn="just">
              <a:lnSpc>
                <a:spcPct val="120000"/>
              </a:lnSpc>
            </a:pPr>
            <a:r>
              <a:rPr lang="en-US" altLang="en-US" sz="2600" dirty="0">
                <a:solidFill>
                  <a:schemeClr val="tx1"/>
                </a:solidFill>
                <a:latin typeface="Times New Roman" panose="02020603050405020304" pitchFamily="18" charset="0"/>
                <a:cs typeface="Times New Roman" panose="02020603050405020304" pitchFamily="18" charset="0"/>
              </a:rPr>
              <a:t>Determine the number of memory chips required, by dividing the required memory size with the size of the memory devices to be used.</a:t>
            </a:r>
          </a:p>
          <a:p>
            <a:pPr marL="801687" lvl="1" indent="-457200" algn="just">
              <a:lnSpc>
                <a:spcPct val="120000"/>
              </a:lnSpc>
            </a:pPr>
            <a:r>
              <a:rPr lang="en-US" altLang="en-US" sz="2600" dirty="0">
                <a:solidFill>
                  <a:schemeClr val="tx1"/>
                </a:solidFill>
                <a:latin typeface="Times New Roman" panose="02020603050405020304" pitchFamily="18" charset="0"/>
                <a:cs typeface="Times New Roman" panose="02020603050405020304" pitchFamily="18" charset="0"/>
              </a:rPr>
              <a:t>Connect the data lines of each memory chip in parallel on the data lines of the processor.</a:t>
            </a:r>
          </a:p>
          <a:p>
            <a:pPr marL="801687" lvl="1" indent="-457200" algn="just">
              <a:lnSpc>
                <a:spcPct val="120000"/>
              </a:lnSpc>
            </a:pPr>
            <a:r>
              <a:rPr lang="en-US" altLang="en-US" sz="2600" dirty="0">
                <a:solidFill>
                  <a:schemeClr val="tx1"/>
                </a:solidFill>
                <a:latin typeface="Times New Roman" panose="02020603050405020304" pitchFamily="18" charset="0"/>
                <a:cs typeface="Times New Roman" panose="02020603050405020304" pitchFamily="18" charset="0"/>
              </a:rPr>
              <a:t>Connect the address lines of each memory chip in parallel with the low  address lines of the processor.</a:t>
            </a:r>
          </a:p>
          <a:p>
            <a:pPr marL="801687" lvl="1" indent="-457200" algn="just">
              <a:lnSpc>
                <a:spcPct val="120000"/>
              </a:lnSpc>
            </a:pPr>
            <a:r>
              <a:rPr lang="en-US" altLang="en-US" sz="2600" dirty="0">
                <a:solidFill>
                  <a:schemeClr val="tx1"/>
                </a:solidFill>
                <a:latin typeface="Times New Roman" panose="02020603050405020304" pitchFamily="18" charset="0"/>
                <a:cs typeface="Times New Roman" panose="02020603050405020304" pitchFamily="18" charset="0"/>
              </a:rPr>
              <a:t>Connect the CS lines of each memory device with the high address lines of the processor through an address decoding circuit..</a:t>
            </a:r>
          </a:p>
          <a:p>
            <a:pPr marL="801687" lvl="1" indent="-457200">
              <a:lnSpc>
                <a:spcPct val="120000"/>
              </a:lnSpc>
            </a:pPr>
            <a:r>
              <a:rPr lang="en-US" altLang="en-US" sz="2600" dirty="0">
                <a:solidFill>
                  <a:schemeClr val="tx1"/>
                </a:solidFill>
                <a:latin typeface="Times New Roman" panose="02020603050405020304" pitchFamily="18" charset="0"/>
                <a:cs typeface="Times New Roman" panose="02020603050405020304" pitchFamily="18" charset="0"/>
              </a:rPr>
              <a:t>Connect together all WR and all RD lines of each memory device.</a:t>
            </a:r>
          </a:p>
          <a:p>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195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200" dirty="0"/>
              <a:t>Address Size Expansion: (32X4 RAM module using 8X4 RAM chips)</a:t>
            </a:r>
            <a:endParaRPr lang="en-GB" sz="3200" dirty="0"/>
          </a:p>
        </p:txBody>
      </p:sp>
      <p:sp>
        <p:nvSpPr>
          <p:cNvPr id="4" name="Slide Number Placeholder 5"/>
          <p:cNvSpPr txBox="1">
            <a:spLocks/>
          </p:cNvSpPr>
          <p:nvPr/>
        </p:nvSpPr>
        <p:spPr>
          <a:xfrm>
            <a:off x="8799094" y="6817894"/>
            <a:ext cx="2062163" cy="304800"/>
          </a:xfrm>
          <a:prstGeom prst="rect">
            <a:avLst/>
          </a:prstGeom>
          <a:noFill/>
        </p:spPr>
        <p:txBody>
          <a:bodyPr/>
          <a:lstStyle>
            <a:defPPr>
              <a:defRPr lang="en-US"/>
            </a:defPPr>
            <a:lvl1pPr marL="0" algn="l" defTabSz="914400" rtl="0" eaLnBrk="1" latinLnBrk="0" hangingPunct="1">
              <a:defRPr sz="2400" kern="1200">
                <a:solidFill>
                  <a:schemeClr val="tx1"/>
                </a:solidFill>
                <a:latin typeface="Times New Roman" panose="02020603050405020304" pitchFamily="18" charset="0"/>
                <a:ea typeface="+mn-ea"/>
                <a:cs typeface="+mn-cs"/>
              </a:defRPr>
            </a:lvl1pPr>
            <a:lvl2pPr marL="742950" indent="-285750" algn="l" defTabSz="914400" rtl="0" eaLnBrk="1" latinLnBrk="0" hangingPunct="1">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defRPr sz="24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defRPr sz="24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defRPr sz="24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9pPr>
          </a:lstStyle>
          <a:p>
            <a:fld id="{89499230-15F5-4619-8E97-6AEEDC3AEC2A}" type="slidenum">
              <a:rPr lang="en-US" altLang="en-US" sz="1400" smtClean="0">
                <a:solidFill>
                  <a:srgbClr val="FF3300"/>
                </a:solidFill>
              </a:rPr>
              <a:pPr/>
              <a:t>27</a:t>
            </a:fld>
            <a:endParaRPr lang="en-US" altLang="en-US" sz="1400">
              <a:solidFill>
                <a:srgbClr val="FF3300"/>
              </a:solidFill>
            </a:endParaRPr>
          </a:p>
        </p:txBody>
      </p:sp>
      <p:graphicFrame>
        <p:nvGraphicFramePr>
          <p:cNvPr id="6" name="Object 3"/>
          <p:cNvGraphicFramePr>
            <a:graphicFrameLocks noChangeAspect="1"/>
          </p:cNvGraphicFramePr>
          <p:nvPr>
            <p:extLst>
              <p:ext uri="{D42A27DB-BD31-4B8C-83A1-F6EECF244321}">
                <p14:modId xmlns:p14="http://schemas.microsoft.com/office/powerpoint/2010/main" val="3385528720"/>
              </p:ext>
            </p:extLst>
          </p:nvPr>
        </p:nvGraphicFramePr>
        <p:xfrm>
          <a:off x="1790282" y="1268760"/>
          <a:ext cx="8568907" cy="5236475"/>
        </p:xfrm>
        <a:graphic>
          <a:graphicData uri="http://schemas.openxmlformats.org/presentationml/2006/ole">
            <mc:AlternateContent xmlns:mc="http://schemas.openxmlformats.org/markup-compatibility/2006">
              <mc:Choice xmlns:v="urn:schemas-microsoft-com:vml" Requires="v">
                <p:oleObj name="VISIO" r:id="rId2" imgW="8522208" imgH="5209032" progId="Visio.Drawing.4">
                  <p:embed/>
                </p:oleObj>
              </mc:Choice>
              <mc:Fallback>
                <p:oleObj name="VISIO" r:id="rId2" imgW="8522208" imgH="5209032" progId="Visio.Drawing.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0282" y="1268760"/>
                        <a:ext cx="8568907" cy="52364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74083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sz="2000" dirty="0">
                <a:solidFill>
                  <a:schemeClr val="tx1"/>
                </a:solidFill>
                <a:latin typeface="Arial" panose="020B0604020202020204" pitchFamily="34" charset="0"/>
              </a:rPr>
              <a:t>Design an 8KX8 RAM module using 2KX8 RAM chips. The module should be connected on an 8-bit processor with a 16-bit address bus, and occupy the address range star</a:t>
            </a:r>
            <a:r>
              <a:rPr lang="en-GB" altLang="en-US" sz="2000" dirty="0">
                <a:solidFill>
                  <a:schemeClr val="tx1"/>
                </a:solidFill>
                <a:latin typeface="Arial" panose="020B0604020202020204" pitchFamily="34" charset="0"/>
              </a:rPr>
              <a:t>t</a:t>
            </a:r>
            <a:r>
              <a:rPr lang="en-US" altLang="en-US" sz="2000" dirty="0">
                <a:solidFill>
                  <a:schemeClr val="tx1"/>
                </a:solidFill>
                <a:latin typeface="Arial" panose="020B0604020202020204" pitchFamily="34" charset="0"/>
              </a:rPr>
              <a:t>ing from the address A000. Show the circuit and the memory map.</a:t>
            </a:r>
            <a:br>
              <a:rPr lang="en-US" altLang="en-US" sz="2000" dirty="0">
                <a:solidFill>
                  <a:schemeClr val="tx1"/>
                </a:solidFill>
                <a:latin typeface="Arial" panose="020B0604020202020204" pitchFamily="34" charset="0"/>
              </a:rPr>
            </a:br>
            <a:endParaRPr lang="en-GB" sz="2000" dirty="0">
              <a:solidFill>
                <a:schemeClr val="tx1"/>
              </a:solidFill>
            </a:endParaRPr>
          </a:p>
        </p:txBody>
      </p:sp>
      <p:sp>
        <p:nvSpPr>
          <p:cNvPr id="4" name="Slide Number Placeholder 5"/>
          <p:cNvSpPr txBox="1">
            <a:spLocks/>
          </p:cNvSpPr>
          <p:nvPr/>
        </p:nvSpPr>
        <p:spPr>
          <a:xfrm>
            <a:off x="7620000" y="6553200"/>
            <a:ext cx="2062163" cy="304800"/>
          </a:xfrm>
          <a:prstGeom prst="rect">
            <a:avLst/>
          </a:prstGeom>
          <a:noFill/>
        </p:spPr>
        <p:txBody>
          <a:bodyPr/>
          <a:lstStyle>
            <a:defPPr>
              <a:defRPr lang="en-US"/>
            </a:defPPr>
            <a:lvl1pPr marL="0" algn="l" defTabSz="914400" rtl="0" eaLnBrk="1" latinLnBrk="0" hangingPunct="1">
              <a:defRPr sz="2400" kern="1200">
                <a:solidFill>
                  <a:schemeClr val="tx1"/>
                </a:solidFill>
                <a:latin typeface="Times New Roman" panose="02020603050405020304" pitchFamily="18" charset="0"/>
                <a:ea typeface="+mn-ea"/>
                <a:cs typeface="+mn-cs"/>
              </a:defRPr>
            </a:lvl1pPr>
            <a:lvl2pPr marL="742950" indent="-285750" algn="l" defTabSz="914400" rtl="0" eaLnBrk="1" latinLnBrk="0" hangingPunct="1">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defRPr sz="24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defRPr sz="24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defRPr sz="24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9pPr>
          </a:lstStyle>
          <a:p>
            <a:fld id="{7CFB6D5A-EE94-46C9-AE42-5E82863A4150}" type="slidenum">
              <a:rPr lang="en-US" altLang="en-US" sz="1400" smtClean="0">
                <a:solidFill>
                  <a:srgbClr val="FF3300"/>
                </a:solidFill>
              </a:rPr>
              <a:pPr/>
              <a:t>28</a:t>
            </a:fld>
            <a:endParaRPr lang="en-US" altLang="en-US" sz="1400">
              <a:solidFill>
                <a:srgbClr val="FF3300"/>
              </a:solidFill>
            </a:endParaRPr>
          </a:p>
        </p:txBody>
      </p:sp>
      <p:sp>
        <p:nvSpPr>
          <p:cNvPr id="6" name="Rectangle 3"/>
          <p:cNvSpPr txBox="1">
            <a:spLocks noChangeArrowheads="1"/>
          </p:cNvSpPr>
          <p:nvPr/>
        </p:nvSpPr>
        <p:spPr bwMode="auto">
          <a:xfrm>
            <a:off x="228600" y="1600200"/>
            <a:ext cx="4724400" cy="4572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797" indent="-342797" algn="l" rtl="0" eaLnBrk="1" fontAlgn="base" hangingPunct="1">
              <a:lnSpc>
                <a:spcPct val="100000"/>
              </a:lnSpc>
              <a:spcBef>
                <a:spcPts val="500"/>
              </a:spcBef>
              <a:spcAft>
                <a:spcPts val="500"/>
              </a:spcAft>
              <a:buFont typeface="Arial" panose="020B0604020202020204" pitchFamily="34" charset="0"/>
              <a:buChar char="•"/>
              <a:defRPr sz="3999" kern="1200">
                <a:solidFill>
                  <a:schemeClr val="tx1"/>
                </a:solidFill>
                <a:latin typeface="Rockwell" pitchFamily="18" charset="0"/>
                <a:ea typeface="+mn-ea"/>
                <a:cs typeface="+mn-cs"/>
              </a:defRPr>
            </a:lvl1pPr>
            <a:lvl2pPr marL="742727" indent="-285664" algn="l" rtl="0" eaLnBrk="1" fontAlgn="base" hangingPunct="1">
              <a:lnSpc>
                <a:spcPct val="100000"/>
              </a:lnSpc>
              <a:spcBef>
                <a:spcPts val="500"/>
              </a:spcBef>
              <a:spcAft>
                <a:spcPts val="500"/>
              </a:spcAft>
              <a:buFont typeface="Wingdings" pitchFamily="2" charset="2"/>
              <a:buChar char="§"/>
              <a:defRPr sz="3599" kern="1200">
                <a:solidFill>
                  <a:srgbClr val="7A0000"/>
                </a:solidFill>
                <a:latin typeface="Rockwell" pitchFamily="18" charset="0"/>
                <a:ea typeface="+mn-ea"/>
                <a:cs typeface="+mn-cs"/>
              </a:defRPr>
            </a:lvl2pPr>
            <a:lvl3pPr marL="1142657" indent="-228531" algn="l" rtl="0" eaLnBrk="1" fontAlgn="base" hangingPunct="1">
              <a:lnSpc>
                <a:spcPct val="100000"/>
              </a:lnSpc>
              <a:spcBef>
                <a:spcPts val="500"/>
              </a:spcBef>
              <a:spcAft>
                <a:spcPts val="500"/>
              </a:spcAft>
              <a:buFont typeface="Calibri" pitchFamily="34" charset="0"/>
              <a:buChar char="‒"/>
              <a:defRPr sz="3199" kern="1200">
                <a:solidFill>
                  <a:schemeClr val="accent4">
                    <a:lumMod val="50000"/>
                  </a:schemeClr>
                </a:solidFill>
                <a:latin typeface="Rockwell" pitchFamily="18" charset="0"/>
                <a:ea typeface="+mn-ea"/>
                <a:cs typeface="+mn-cs"/>
              </a:defRPr>
            </a:lvl3pPr>
            <a:lvl4pPr marL="1599720" indent="-228531" algn="l" rtl="0" eaLnBrk="1" fontAlgn="base" hangingPunct="1">
              <a:lnSpc>
                <a:spcPct val="100000"/>
              </a:lnSpc>
              <a:spcBef>
                <a:spcPts val="500"/>
              </a:spcBef>
              <a:spcAft>
                <a:spcPts val="500"/>
              </a:spcAft>
              <a:buFont typeface="Arial" pitchFamily="34" charset="0"/>
              <a:buChar char="•"/>
              <a:defRPr sz="2799" kern="1200">
                <a:solidFill>
                  <a:schemeClr val="tx1"/>
                </a:solidFill>
                <a:latin typeface="Rockwell" pitchFamily="18" charset="0"/>
                <a:ea typeface="+mn-ea"/>
                <a:cs typeface="+mn-cs"/>
              </a:defRPr>
            </a:lvl4pPr>
            <a:lvl5pPr marL="2056783" indent="-228531" algn="l" rtl="0" eaLnBrk="1" fontAlgn="base" hangingPunct="1">
              <a:lnSpc>
                <a:spcPct val="100000"/>
              </a:lnSpc>
              <a:spcBef>
                <a:spcPts val="500"/>
              </a:spcBef>
              <a:spcAft>
                <a:spcPts val="500"/>
              </a:spcAft>
              <a:buFont typeface="Arial" panose="020B0604020202020204" pitchFamily="34" charset="0"/>
              <a:buChar char="»"/>
              <a:defRPr sz="2799" kern="1200">
                <a:solidFill>
                  <a:schemeClr val="tx1"/>
                </a:solidFill>
                <a:latin typeface="Rockwell" pitchFamily="18" charset="0"/>
                <a:ea typeface="+mn-ea"/>
                <a:cs typeface="+mn-cs"/>
              </a:defRPr>
            </a:lvl5pPr>
            <a:lvl6pPr marL="2513846"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230188" indent="-230188" algn="just"/>
            <a:r>
              <a:rPr lang="en-US" altLang="en-US" sz="1800" dirty="0"/>
              <a:t>Number of memory devices needed  = 8K/2K = 4 </a:t>
            </a:r>
          </a:p>
          <a:p>
            <a:pPr marL="230188" indent="-230188" algn="just"/>
            <a:r>
              <a:rPr lang="en-US" altLang="en-US" sz="1800" dirty="0"/>
              <a:t>Decoder needed = 2X4</a:t>
            </a:r>
          </a:p>
          <a:p>
            <a:pPr marL="230188" indent="-230188" algn="just"/>
            <a:r>
              <a:rPr lang="en-US" altLang="en-US" sz="1800" dirty="0"/>
              <a:t>Number of address lines on each 2KX8 memory chip = 11  </a:t>
            </a:r>
          </a:p>
          <a:p>
            <a:pPr marL="230188" indent="-230188" algn="just">
              <a:buFontTx/>
              <a:buNone/>
            </a:pPr>
            <a:r>
              <a:rPr lang="en-US" altLang="en-US" sz="1800" dirty="0"/>
              <a:t>	2</a:t>
            </a:r>
            <a:r>
              <a:rPr lang="en-US" altLang="en-US" sz="1800" baseline="30000" dirty="0"/>
              <a:t>m</a:t>
            </a:r>
            <a:r>
              <a:rPr lang="en-US" altLang="en-US" sz="1800" dirty="0"/>
              <a:t> = 2K = 2</a:t>
            </a:r>
            <a:r>
              <a:rPr lang="en-US" altLang="en-US" sz="1800" baseline="30000" dirty="0"/>
              <a:t>1</a:t>
            </a:r>
            <a:r>
              <a:rPr lang="en-US" altLang="en-US" sz="1800" dirty="0"/>
              <a:t> x 2</a:t>
            </a:r>
            <a:r>
              <a:rPr lang="en-US" altLang="en-US" sz="1800" baseline="30000" dirty="0"/>
              <a:t>10</a:t>
            </a:r>
            <a:r>
              <a:rPr lang="en-US" altLang="en-US" sz="1800" dirty="0"/>
              <a:t> = 2</a:t>
            </a:r>
            <a:r>
              <a:rPr lang="en-US" altLang="en-US" sz="1800" baseline="30000" dirty="0"/>
              <a:t>11 </a:t>
            </a:r>
            <a:r>
              <a:rPr lang="en-US" altLang="en-US" sz="1800" dirty="0">
                <a:sym typeface="Symbol" panose="05050102010706020507" pitchFamily="18" charset="2"/>
              </a:rPr>
              <a:t> </a:t>
            </a:r>
            <a:r>
              <a:rPr lang="en-US" altLang="en-US" sz="1800" dirty="0"/>
              <a:t>(A0..A10)</a:t>
            </a:r>
            <a:r>
              <a:rPr lang="en-US" altLang="en-US" sz="1800" baseline="30000" dirty="0"/>
              <a:t> </a:t>
            </a:r>
          </a:p>
          <a:p>
            <a:pPr marL="230188" indent="-230188" algn="just"/>
            <a:r>
              <a:rPr lang="en-US" altLang="en-US" sz="1800" dirty="0"/>
              <a:t>Decoder needed = 2X4 </a:t>
            </a:r>
          </a:p>
          <a:p>
            <a:pPr marL="230188" indent="-230188">
              <a:buFontTx/>
              <a:buNone/>
            </a:pPr>
            <a:r>
              <a:rPr lang="en-US" altLang="en-US" sz="1800" dirty="0">
                <a:sym typeface="Symbol" panose="05050102010706020507" pitchFamily="18" charset="2"/>
              </a:rPr>
              <a:t>	 2 address lines are needed for the decoder.</a:t>
            </a:r>
            <a:r>
              <a:rPr lang="en-US" altLang="en-US" sz="1800" baseline="30000" dirty="0">
                <a:sym typeface="Symbol" panose="05050102010706020507" pitchFamily="18" charset="2"/>
              </a:rPr>
              <a:t> </a:t>
            </a:r>
            <a:r>
              <a:rPr lang="en-US" altLang="en-US" sz="1800" dirty="0">
                <a:sym typeface="Symbol" panose="05050102010706020507" pitchFamily="18" charset="2"/>
              </a:rPr>
              <a:t> </a:t>
            </a:r>
            <a:r>
              <a:rPr lang="en-US" altLang="en-US" sz="1800" dirty="0"/>
              <a:t>(A11..A12)</a:t>
            </a:r>
          </a:p>
          <a:p>
            <a:pPr marL="230188" indent="-230188" algn="just"/>
            <a:r>
              <a:rPr lang="en-US" altLang="en-US" sz="1800" dirty="0"/>
              <a:t>Number of address lines needed for the address selection circuit</a:t>
            </a:r>
          </a:p>
          <a:p>
            <a:pPr marL="230188" indent="-230188" algn="just">
              <a:buFontTx/>
              <a:buNone/>
            </a:pPr>
            <a:r>
              <a:rPr lang="en-US" altLang="en-US" sz="1800" dirty="0"/>
              <a:t>	 = 16 - 11 - 2 = 3  </a:t>
            </a:r>
            <a:r>
              <a:rPr lang="en-US" altLang="en-US" sz="1800" dirty="0">
                <a:sym typeface="Symbol" panose="05050102010706020507" pitchFamily="18" charset="2"/>
              </a:rPr>
              <a:t> </a:t>
            </a:r>
            <a:r>
              <a:rPr lang="en-US" altLang="en-US" sz="1800" dirty="0"/>
              <a:t>(A13, A14 A15)</a:t>
            </a:r>
          </a:p>
        </p:txBody>
      </p:sp>
      <p:graphicFrame>
        <p:nvGraphicFramePr>
          <p:cNvPr id="7" name="Object 4"/>
          <p:cNvGraphicFramePr>
            <a:graphicFrameLocks noChangeAspect="1"/>
          </p:cNvGraphicFramePr>
          <p:nvPr>
            <p:extLst>
              <p:ext uri="{D42A27DB-BD31-4B8C-83A1-F6EECF244321}">
                <p14:modId xmlns:p14="http://schemas.microsoft.com/office/powerpoint/2010/main" val="1057354118"/>
              </p:ext>
            </p:extLst>
          </p:nvPr>
        </p:nvGraphicFramePr>
        <p:xfrm>
          <a:off x="7075237" y="1371600"/>
          <a:ext cx="4162425" cy="4800600"/>
        </p:xfrm>
        <a:graphic>
          <a:graphicData uri="http://schemas.openxmlformats.org/presentationml/2006/ole">
            <mc:AlternateContent xmlns:mc="http://schemas.openxmlformats.org/markup-compatibility/2006">
              <mc:Choice xmlns:v="urn:schemas-microsoft-com:vml" Requires="v">
                <p:oleObj name="Visio" r:id="rId2" imgW="3722624" imgH="4294203" progId="Visio.Drawing.11">
                  <p:embed/>
                </p:oleObj>
              </mc:Choice>
              <mc:Fallback>
                <p:oleObj name="Visio" r:id="rId2" imgW="3722624" imgH="4294203"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5237" y="1371600"/>
                        <a:ext cx="4162425" cy="4800600"/>
                      </a:xfrm>
                      <a:prstGeom prst="rect">
                        <a:avLst/>
                      </a:prstGeom>
                      <a:noFill/>
                      <a:ln>
                        <a:noFill/>
                      </a:ln>
                      <a:effectLst/>
                      <a:extLst>
                        <a:ext uri="{909E8E84-426E-40DD-AFC4-6F175D3DCCD1}">
                          <a14:hiddenFill xmlns:a14="http://schemas.microsoft.com/office/drawing/2010/main">
                            <a:solidFill>
                              <a:schemeClr val="bg1">
                                <a:alpha val="50195"/>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42367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C8323-7717-7ED8-3679-377B0BFA0A56}"/>
              </a:ext>
            </a:extLst>
          </p:cNvPr>
          <p:cNvSpPr>
            <a:spLocks noGrp="1"/>
          </p:cNvSpPr>
          <p:nvPr>
            <p:ph type="title"/>
          </p:nvPr>
        </p:nvSpPr>
        <p:spPr/>
        <p:txBody>
          <a:bodyPr/>
          <a:lstStyle/>
          <a:p>
            <a:pPr algn="ctr"/>
            <a:r>
              <a:rPr lang="en-US" dirty="0"/>
              <a:t>Explanation</a:t>
            </a:r>
          </a:p>
        </p:txBody>
      </p:sp>
      <p:sp>
        <p:nvSpPr>
          <p:cNvPr id="3" name="Content Placeholder 2">
            <a:extLst>
              <a:ext uri="{FF2B5EF4-FFF2-40B4-BE49-F238E27FC236}">
                <a16:creationId xmlns:a16="http://schemas.microsoft.com/office/drawing/2014/main" id="{5580D194-8642-59B6-663E-E943121A8ECF}"/>
              </a:ext>
            </a:extLst>
          </p:cNvPr>
          <p:cNvSpPr>
            <a:spLocks noGrp="1"/>
          </p:cNvSpPr>
          <p:nvPr>
            <p:ph idx="1"/>
          </p:nvPr>
        </p:nvSpPr>
        <p:spPr/>
        <p:txBody>
          <a:bodyPr>
            <a:normAutofit fontScale="85000" lnSpcReduction="20000"/>
          </a:bodyPr>
          <a:lstStyle/>
          <a:p>
            <a:r>
              <a:rPr lang="en-US" sz="3500" b="1" dirty="0"/>
              <a:t>Problem Analysis</a:t>
            </a:r>
          </a:p>
          <a:p>
            <a:r>
              <a:rPr lang="en-US" sz="2000" dirty="0"/>
              <a:t>Let me break down the requirements:</a:t>
            </a:r>
          </a:p>
          <a:p>
            <a:r>
              <a:rPr lang="en-US" sz="2000" b="1" dirty="0"/>
              <a:t>Target Module:</a:t>
            </a:r>
            <a:r>
              <a:rPr lang="en-US" sz="2000" dirty="0"/>
              <a:t> 8K×8 RAM (8192 locations × 8 bits)</a:t>
            </a:r>
          </a:p>
          <a:p>
            <a:r>
              <a:rPr lang="en-US" sz="2000" b="1" dirty="0"/>
              <a:t>Available Chips:</a:t>
            </a:r>
            <a:r>
              <a:rPr lang="en-US" sz="2000" dirty="0"/>
              <a:t> 2K×8 RAM (2048 locations × 8 bits each)</a:t>
            </a:r>
          </a:p>
          <a:p>
            <a:r>
              <a:rPr lang="en-US" sz="2000" b="1" dirty="0"/>
              <a:t>Processor:</a:t>
            </a:r>
            <a:r>
              <a:rPr lang="en-US" sz="2000" dirty="0"/>
              <a:t> 8-bit data bus, 16-bit address bus</a:t>
            </a:r>
          </a:p>
          <a:p>
            <a:r>
              <a:rPr lang="en-US" sz="2000" b="1" dirty="0"/>
              <a:t>Starting Address:</a:t>
            </a:r>
            <a:r>
              <a:rPr lang="en-US" sz="2000" dirty="0"/>
              <a:t> A000H</a:t>
            </a:r>
          </a:p>
          <a:p>
            <a:r>
              <a:rPr lang="en-US" sz="2000" b="1" dirty="0"/>
              <a:t>Task:</a:t>
            </a:r>
            <a:r>
              <a:rPr lang="en-US" sz="2000" dirty="0"/>
              <a:t> Design the circuit and show the memory map</a:t>
            </a:r>
          </a:p>
          <a:p>
            <a:r>
              <a:rPr lang="en-US" sz="2000" b="1" dirty="0"/>
              <a:t>Step 1: Determine Number of Chips Required</a:t>
            </a:r>
          </a:p>
          <a:p>
            <a:r>
              <a:rPr lang="en-US" sz="2000" b="1" dirty="0"/>
              <a:t>Calculation:</a:t>
            </a:r>
            <a:endParaRPr lang="en-US" sz="2000" dirty="0"/>
          </a:p>
          <a:p>
            <a:r>
              <a:rPr lang="en-US" sz="2000" dirty="0"/>
              <a:t>Total memory needed = 8K×8 = 8192 bytes</a:t>
            </a:r>
          </a:p>
          <a:p>
            <a:r>
              <a:rPr lang="en-US" sz="2000" dirty="0"/>
              <a:t>Each chip capacity = 2K×8 = 2048 bytes</a:t>
            </a:r>
          </a:p>
          <a:p>
            <a:r>
              <a:rPr lang="en-US" sz="2000" dirty="0"/>
              <a:t>Number of chips required = 8192 ÷ 2048 = </a:t>
            </a:r>
            <a:r>
              <a:rPr lang="en-US" sz="2000" b="1" dirty="0"/>
              <a:t>4 chips</a:t>
            </a:r>
            <a:endParaRPr lang="en-US" sz="2000" dirty="0"/>
          </a:p>
          <a:p>
            <a:r>
              <a:rPr lang="en-US" sz="2000" dirty="0"/>
              <a:t>Since we need more capacity (8K) and each chip provides 2K, we need to connect 4 chips to achieve the required 8K×8 configuration.</a:t>
            </a:r>
          </a:p>
          <a:p>
            <a:endParaRPr lang="en-US" sz="2000" dirty="0"/>
          </a:p>
          <a:p>
            <a:endParaRPr lang="en-US" dirty="0"/>
          </a:p>
        </p:txBody>
      </p:sp>
    </p:spTree>
    <p:extLst>
      <p:ext uri="{BB962C8B-B14F-4D97-AF65-F5344CB8AC3E}">
        <p14:creationId xmlns:p14="http://schemas.microsoft.com/office/powerpoint/2010/main" val="935337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16592-DFE3-B32B-BE5A-4F3D46D2C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CF3A0-6BAE-A04D-1AB2-DFF7301ED7AE}"/>
              </a:ext>
            </a:extLst>
          </p:cNvPr>
          <p:cNvSpPr>
            <a:spLocks noGrp="1"/>
          </p:cNvSpPr>
          <p:nvPr>
            <p:ph type="title"/>
          </p:nvPr>
        </p:nvSpPr>
        <p:spPr>
          <a:xfrm>
            <a:off x="480838" y="153144"/>
            <a:ext cx="11711162" cy="912519"/>
          </a:xfrm>
        </p:spPr>
        <p:txBody>
          <a:bodyPr>
            <a:noAutofit/>
          </a:bodyPr>
          <a:lstStyle/>
          <a:p>
            <a:pPr algn="ctr"/>
            <a:r>
              <a:rPr lang="en-US" sz="4000"/>
              <a:t>Explanation</a:t>
            </a:r>
            <a:endParaRPr lang="en-GB" sz="4000" dirty="0">
              <a:solidFill>
                <a:schemeClr val="tx1"/>
              </a:solidFill>
            </a:endParaRPr>
          </a:p>
        </p:txBody>
      </p:sp>
      <p:sp>
        <p:nvSpPr>
          <p:cNvPr id="4" name="Slide Number Placeholder 5">
            <a:extLst>
              <a:ext uri="{FF2B5EF4-FFF2-40B4-BE49-F238E27FC236}">
                <a16:creationId xmlns:a16="http://schemas.microsoft.com/office/drawing/2014/main" id="{93C238E9-4F65-BC6B-1C4E-116E104E0921}"/>
              </a:ext>
            </a:extLst>
          </p:cNvPr>
          <p:cNvSpPr txBox="1">
            <a:spLocks/>
          </p:cNvSpPr>
          <p:nvPr/>
        </p:nvSpPr>
        <p:spPr>
          <a:xfrm>
            <a:off x="7620000" y="6553200"/>
            <a:ext cx="2062163" cy="304800"/>
          </a:xfrm>
          <a:prstGeom prst="rect">
            <a:avLst/>
          </a:prstGeom>
          <a:noFill/>
        </p:spPr>
        <p:txBody>
          <a:bodyPr/>
          <a:lstStyle>
            <a:defPPr>
              <a:defRPr lang="en-US"/>
            </a:defPPr>
            <a:lvl1pPr marL="0" algn="l" defTabSz="914400" rtl="0" eaLnBrk="1" latinLnBrk="0" hangingPunct="1">
              <a:defRPr sz="2400" kern="1200">
                <a:solidFill>
                  <a:schemeClr val="tx1"/>
                </a:solidFill>
                <a:latin typeface="Times New Roman" panose="02020603050405020304" pitchFamily="18" charset="0"/>
                <a:ea typeface="+mn-ea"/>
                <a:cs typeface="+mn-cs"/>
              </a:defRPr>
            </a:lvl1pPr>
            <a:lvl2pPr marL="742950" indent="-285750" algn="l" defTabSz="914400" rtl="0" eaLnBrk="1" latinLnBrk="0" hangingPunct="1">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defRPr sz="24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defRPr sz="24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defRPr sz="2400" kern="1200">
                <a:solidFill>
                  <a:schemeClr val="tx1"/>
                </a:solidFill>
                <a:latin typeface="Times New Roman" panose="02020603050405020304" pitchFamily="18" charset="0"/>
                <a:ea typeface="+mn-ea"/>
                <a:cs typeface="+mn-cs"/>
              </a:defRPr>
            </a:lvl5pPr>
            <a:lvl6pPr marL="25146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6pPr>
            <a:lvl7pPr marL="29718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7pPr>
            <a:lvl8pPr marL="34290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8pPr>
            <a:lvl9pPr marL="3886200" indent="-228600" algn="l" defTabSz="914400" rtl="0" eaLnBrk="0" fontAlgn="base" latinLnBrk="0" hangingPunct="0">
              <a:spcBef>
                <a:spcPct val="0"/>
              </a:spcBef>
              <a:spcAft>
                <a:spcPct val="0"/>
              </a:spcAft>
              <a:defRPr sz="2400" kern="1200">
                <a:solidFill>
                  <a:schemeClr val="tx1"/>
                </a:solidFill>
                <a:latin typeface="Times New Roman" panose="02020603050405020304" pitchFamily="18" charset="0"/>
                <a:ea typeface="+mn-ea"/>
                <a:cs typeface="+mn-cs"/>
              </a:defRPr>
            </a:lvl9pPr>
          </a:lstStyle>
          <a:p>
            <a:fld id="{7CFB6D5A-EE94-46C9-AE42-5E82863A4150}" type="slidenum">
              <a:rPr lang="en-US" altLang="en-US" sz="1400" smtClean="0">
                <a:solidFill>
                  <a:srgbClr val="FF3300"/>
                </a:solidFill>
              </a:rPr>
              <a:pPr/>
              <a:t>30</a:t>
            </a:fld>
            <a:endParaRPr lang="en-US" altLang="en-US" sz="1400">
              <a:solidFill>
                <a:srgbClr val="FF3300"/>
              </a:solidFill>
            </a:endParaRPr>
          </a:p>
        </p:txBody>
      </p:sp>
      <p:sp>
        <p:nvSpPr>
          <p:cNvPr id="6" name="Rectangle 3">
            <a:extLst>
              <a:ext uri="{FF2B5EF4-FFF2-40B4-BE49-F238E27FC236}">
                <a16:creationId xmlns:a16="http://schemas.microsoft.com/office/drawing/2014/main" id="{48656E67-FFF7-8F9A-BA5A-5EE6A992BD92}"/>
              </a:ext>
            </a:extLst>
          </p:cNvPr>
          <p:cNvSpPr txBox="1">
            <a:spLocks noChangeArrowheads="1"/>
          </p:cNvSpPr>
          <p:nvPr/>
        </p:nvSpPr>
        <p:spPr bwMode="auto">
          <a:xfrm>
            <a:off x="228599" y="1119116"/>
            <a:ext cx="6458804" cy="50530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85000" lnSpcReduction="10000"/>
          </a:bodyPr>
          <a:lstStyle>
            <a:lvl1pPr marL="342797" indent="-342797" algn="l" rtl="0" eaLnBrk="1" fontAlgn="base" hangingPunct="1">
              <a:lnSpc>
                <a:spcPct val="100000"/>
              </a:lnSpc>
              <a:spcBef>
                <a:spcPts val="500"/>
              </a:spcBef>
              <a:spcAft>
                <a:spcPts val="500"/>
              </a:spcAft>
              <a:buFont typeface="Arial" panose="020B0604020202020204" pitchFamily="34" charset="0"/>
              <a:buChar char="•"/>
              <a:defRPr sz="3999" kern="1200">
                <a:solidFill>
                  <a:schemeClr val="tx1"/>
                </a:solidFill>
                <a:latin typeface="Rockwell" pitchFamily="18" charset="0"/>
                <a:ea typeface="+mn-ea"/>
                <a:cs typeface="+mn-cs"/>
              </a:defRPr>
            </a:lvl1pPr>
            <a:lvl2pPr marL="742727" indent="-285664" algn="l" rtl="0" eaLnBrk="1" fontAlgn="base" hangingPunct="1">
              <a:lnSpc>
                <a:spcPct val="100000"/>
              </a:lnSpc>
              <a:spcBef>
                <a:spcPts val="500"/>
              </a:spcBef>
              <a:spcAft>
                <a:spcPts val="500"/>
              </a:spcAft>
              <a:buFont typeface="Wingdings" pitchFamily="2" charset="2"/>
              <a:buChar char="§"/>
              <a:defRPr sz="3599" kern="1200">
                <a:solidFill>
                  <a:srgbClr val="7A0000"/>
                </a:solidFill>
                <a:latin typeface="Rockwell" pitchFamily="18" charset="0"/>
                <a:ea typeface="+mn-ea"/>
                <a:cs typeface="+mn-cs"/>
              </a:defRPr>
            </a:lvl2pPr>
            <a:lvl3pPr marL="1142657" indent="-228531" algn="l" rtl="0" eaLnBrk="1" fontAlgn="base" hangingPunct="1">
              <a:lnSpc>
                <a:spcPct val="100000"/>
              </a:lnSpc>
              <a:spcBef>
                <a:spcPts val="500"/>
              </a:spcBef>
              <a:spcAft>
                <a:spcPts val="500"/>
              </a:spcAft>
              <a:buFont typeface="Calibri" pitchFamily="34" charset="0"/>
              <a:buChar char="‒"/>
              <a:defRPr sz="3199" kern="1200">
                <a:solidFill>
                  <a:schemeClr val="accent4">
                    <a:lumMod val="50000"/>
                  </a:schemeClr>
                </a:solidFill>
                <a:latin typeface="Rockwell" pitchFamily="18" charset="0"/>
                <a:ea typeface="+mn-ea"/>
                <a:cs typeface="+mn-cs"/>
              </a:defRPr>
            </a:lvl3pPr>
            <a:lvl4pPr marL="1599720" indent="-228531" algn="l" rtl="0" eaLnBrk="1" fontAlgn="base" hangingPunct="1">
              <a:lnSpc>
                <a:spcPct val="100000"/>
              </a:lnSpc>
              <a:spcBef>
                <a:spcPts val="500"/>
              </a:spcBef>
              <a:spcAft>
                <a:spcPts val="500"/>
              </a:spcAft>
              <a:buFont typeface="Arial" pitchFamily="34" charset="0"/>
              <a:buChar char="•"/>
              <a:defRPr sz="2799" kern="1200">
                <a:solidFill>
                  <a:schemeClr val="tx1"/>
                </a:solidFill>
                <a:latin typeface="Rockwell" pitchFamily="18" charset="0"/>
                <a:ea typeface="+mn-ea"/>
                <a:cs typeface="+mn-cs"/>
              </a:defRPr>
            </a:lvl4pPr>
            <a:lvl5pPr marL="2056783" indent="-228531" algn="l" rtl="0" eaLnBrk="1" fontAlgn="base" hangingPunct="1">
              <a:lnSpc>
                <a:spcPct val="100000"/>
              </a:lnSpc>
              <a:spcBef>
                <a:spcPts val="500"/>
              </a:spcBef>
              <a:spcAft>
                <a:spcPts val="500"/>
              </a:spcAft>
              <a:buFont typeface="Arial" panose="020B0604020202020204" pitchFamily="34" charset="0"/>
              <a:buChar char="»"/>
              <a:defRPr sz="2799" kern="1200">
                <a:solidFill>
                  <a:schemeClr val="tx1"/>
                </a:solidFill>
                <a:latin typeface="Rockwell" pitchFamily="18" charset="0"/>
                <a:ea typeface="+mn-ea"/>
                <a:cs typeface="+mn-cs"/>
              </a:defRPr>
            </a:lvl5pPr>
            <a:lvl6pPr marL="2513846"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908"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971"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5034" indent="-228531" algn="l" defTabSz="914126"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r>
              <a:rPr lang="en-US" sz="1800" b="1" dirty="0"/>
              <a:t>Step 2: Address Line Analysis</a:t>
            </a:r>
          </a:p>
          <a:p>
            <a:r>
              <a:rPr lang="en-US" sz="1800" b="1" dirty="0"/>
              <a:t>Address Requirements for 2K×8 RAM Chip</a:t>
            </a:r>
          </a:p>
          <a:p>
            <a:pPr marL="0" indent="0">
              <a:buNone/>
            </a:pPr>
            <a:r>
              <a:rPr lang="en-US" sz="1800" dirty="0"/>
              <a:t>Each 2K×8 chip needs to address 2048 locations.</a:t>
            </a:r>
          </a:p>
          <a:p>
            <a:pPr marL="0" indent="0">
              <a:buNone/>
            </a:pPr>
            <a:r>
              <a:rPr lang="en-US" sz="1800" dirty="0"/>
              <a:t>2048 = 2^11</a:t>
            </a:r>
          </a:p>
          <a:p>
            <a:pPr marL="0" indent="0">
              <a:buNone/>
            </a:pPr>
            <a:r>
              <a:rPr lang="en-US" sz="1800" dirty="0"/>
              <a:t>Therefore, each chip requires </a:t>
            </a:r>
            <a:r>
              <a:rPr lang="en-US" sz="1800" b="1" dirty="0"/>
              <a:t>11 address lines</a:t>
            </a:r>
            <a:r>
              <a:rPr lang="en-US" sz="1800" dirty="0"/>
              <a:t> (A0-A10)</a:t>
            </a:r>
          </a:p>
          <a:p>
            <a:r>
              <a:rPr lang="en-US" sz="1800" b="1" dirty="0"/>
              <a:t>Address Range Calculation</a:t>
            </a:r>
          </a:p>
          <a:p>
            <a:r>
              <a:rPr lang="en-US" sz="1800" dirty="0"/>
              <a:t>With a 16-bit address bus, we have address lines A0-A15.</a:t>
            </a:r>
          </a:p>
          <a:p>
            <a:r>
              <a:rPr lang="en-US" sz="1800" b="1" dirty="0"/>
              <a:t>Starting address:</a:t>
            </a:r>
            <a:r>
              <a:rPr lang="en-US" sz="1800" dirty="0"/>
              <a:t> A000H = 1010 0000 0000 0000 (binary)</a:t>
            </a:r>
          </a:p>
          <a:p>
            <a:r>
              <a:rPr lang="en-US" sz="1800" b="1" dirty="0"/>
              <a:t>Total memory size:</a:t>
            </a:r>
            <a:r>
              <a:rPr lang="en-US" sz="1800" dirty="0"/>
              <a:t> 8K = 8192 bytes = 2000H bytes</a:t>
            </a:r>
          </a:p>
          <a:p>
            <a:r>
              <a:rPr lang="en-US" sz="1800" b="1" dirty="0"/>
              <a:t>Address range:</a:t>
            </a:r>
            <a:r>
              <a:rPr lang="en-US" sz="1800" dirty="0"/>
              <a:t> A000H to A000H + 1FFFH = </a:t>
            </a:r>
            <a:r>
              <a:rPr lang="en-US" sz="1800" b="1" dirty="0"/>
              <a:t>A000H to BFFFH</a:t>
            </a:r>
            <a:endParaRPr lang="en-US" sz="1800" dirty="0"/>
          </a:p>
          <a:p>
            <a:r>
              <a:rPr lang="en-US" sz="1800" dirty="0"/>
              <a:t>Which means</a:t>
            </a:r>
          </a:p>
          <a:p>
            <a:pPr marL="0" indent="0">
              <a:buNone/>
            </a:pPr>
            <a:r>
              <a:rPr lang="en-US" sz="1800" dirty="0"/>
              <a:t>A000H (starting) = 1010 0000 0000 0000</a:t>
            </a:r>
          </a:p>
          <a:p>
            <a:pPr marL="0" indent="0">
              <a:buNone/>
            </a:pPr>
            <a:r>
              <a:rPr lang="en-US" sz="1800" dirty="0"/>
              <a:t>BFFFH (ending) = 1011 1111 1111 1111</a:t>
            </a:r>
          </a:p>
          <a:p>
            <a:r>
              <a:rPr lang="en-US" sz="1800" b="1" dirty="0"/>
              <a:t>Address Line Distribution</a:t>
            </a:r>
          </a:p>
          <a:p>
            <a:r>
              <a:rPr lang="en-US" sz="1800" b="1" dirty="0"/>
              <a:t>For 16-bit address bus (A15-A0)</a:t>
            </a:r>
            <a:endParaRPr lang="en-US" sz="1800" dirty="0"/>
          </a:p>
        </p:txBody>
      </p:sp>
      <p:graphicFrame>
        <p:nvGraphicFramePr>
          <p:cNvPr id="3" name="Table 2">
            <a:extLst>
              <a:ext uri="{FF2B5EF4-FFF2-40B4-BE49-F238E27FC236}">
                <a16:creationId xmlns:a16="http://schemas.microsoft.com/office/drawing/2014/main" id="{8D59A8D4-838F-6150-DA5B-EC97CDCC520B}"/>
              </a:ext>
            </a:extLst>
          </p:cNvPr>
          <p:cNvGraphicFramePr>
            <a:graphicFrameLocks noGrp="1"/>
          </p:cNvGraphicFramePr>
          <p:nvPr>
            <p:extLst>
              <p:ext uri="{D42A27DB-BD31-4B8C-83A1-F6EECF244321}">
                <p14:modId xmlns:p14="http://schemas.microsoft.com/office/powerpoint/2010/main" val="1026463246"/>
              </p:ext>
            </p:extLst>
          </p:nvPr>
        </p:nvGraphicFramePr>
        <p:xfrm>
          <a:off x="7478973" y="1446664"/>
          <a:ext cx="4484428" cy="4462817"/>
        </p:xfrm>
        <a:graphic>
          <a:graphicData uri="http://schemas.openxmlformats.org/drawingml/2006/table">
            <a:tbl>
              <a:tblPr/>
              <a:tblGrid>
                <a:gridCol w="2242214">
                  <a:extLst>
                    <a:ext uri="{9D8B030D-6E8A-4147-A177-3AD203B41FA5}">
                      <a16:colId xmlns:a16="http://schemas.microsoft.com/office/drawing/2014/main" val="1901099785"/>
                    </a:ext>
                  </a:extLst>
                </a:gridCol>
                <a:gridCol w="2242214">
                  <a:extLst>
                    <a:ext uri="{9D8B030D-6E8A-4147-A177-3AD203B41FA5}">
                      <a16:colId xmlns:a16="http://schemas.microsoft.com/office/drawing/2014/main" val="2791569969"/>
                    </a:ext>
                  </a:extLst>
                </a:gridCol>
              </a:tblGrid>
              <a:tr h="714080">
                <a:tc>
                  <a:txBody>
                    <a:bodyPr/>
                    <a:lstStyle/>
                    <a:p>
                      <a:pPr>
                        <a:buNone/>
                      </a:pPr>
                      <a:r>
                        <a:rPr lang="en-US"/>
                        <a:t>Address Lines</a:t>
                      </a:r>
                    </a:p>
                  </a:txBody>
                  <a:tcPr anchor="ctr">
                    <a:lnL>
                      <a:noFill/>
                    </a:lnL>
                    <a:lnR>
                      <a:noFill/>
                    </a:lnR>
                    <a:lnT>
                      <a:noFill/>
                    </a:lnT>
                    <a:lnB>
                      <a:noFill/>
                    </a:lnB>
                    <a:noFill/>
                  </a:tcPr>
                </a:tc>
                <a:tc>
                  <a:txBody>
                    <a:bodyPr/>
                    <a:lstStyle/>
                    <a:p>
                      <a:pPr>
                        <a:buNone/>
                      </a:pPr>
                      <a:r>
                        <a:rPr lang="en-US"/>
                        <a:t>Purpose</a:t>
                      </a:r>
                    </a:p>
                  </a:txBody>
                  <a:tcPr anchor="ctr">
                    <a:lnL>
                      <a:noFill/>
                    </a:lnL>
                    <a:lnR>
                      <a:noFill/>
                    </a:lnR>
                    <a:lnT>
                      <a:noFill/>
                    </a:lnT>
                    <a:lnB>
                      <a:noFill/>
                    </a:lnB>
                    <a:noFill/>
                  </a:tcPr>
                </a:tc>
                <a:extLst>
                  <a:ext uri="{0D108BD9-81ED-4DB2-BD59-A6C34878D82A}">
                    <a16:rowId xmlns:a16="http://schemas.microsoft.com/office/drawing/2014/main" val="2615887097"/>
                  </a:ext>
                </a:extLst>
              </a:tr>
              <a:tr h="1249579">
                <a:tc>
                  <a:txBody>
                    <a:bodyPr/>
                    <a:lstStyle/>
                    <a:p>
                      <a:pPr>
                        <a:buNone/>
                      </a:pPr>
                      <a:r>
                        <a:rPr lang="en-US" dirty="0"/>
                        <a:t>A0-A10 (11 bits)</a:t>
                      </a:r>
                    </a:p>
                  </a:txBody>
                  <a:tcPr anchor="ctr">
                    <a:lnL>
                      <a:noFill/>
                    </a:lnL>
                    <a:lnR>
                      <a:noFill/>
                    </a:lnR>
                    <a:lnT>
                      <a:noFill/>
                    </a:lnT>
                    <a:lnB>
                      <a:noFill/>
                    </a:lnB>
                    <a:noFill/>
                  </a:tcPr>
                </a:tc>
                <a:tc>
                  <a:txBody>
                    <a:bodyPr/>
                    <a:lstStyle/>
                    <a:p>
                      <a:pPr>
                        <a:buNone/>
                      </a:pPr>
                      <a:r>
                        <a:rPr lang="en-US" dirty="0"/>
                        <a:t>Address lines for each 2K×8 chip (2048 locations)</a:t>
                      </a:r>
                    </a:p>
                  </a:txBody>
                  <a:tcPr anchor="ctr">
                    <a:lnL>
                      <a:noFill/>
                    </a:lnL>
                    <a:lnR>
                      <a:noFill/>
                    </a:lnR>
                    <a:lnT>
                      <a:noFill/>
                    </a:lnT>
                    <a:lnB>
                      <a:noFill/>
                    </a:lnB>
                    <a:noFill/>
                  </a:tcPr>
                </a:tc>
                <a:extLst>
                  <a:ext uri="{0D108BD9-81ED-4DB2-BD59-A6C34878D82A}">
                    <a16:rowId xmlns:a16="http://schemas.microsoft.com/office/drawing/2014/main" val="2764912712"/>
                  </a:ext>
                </a:extLst>
              </a:tr>
              <a:tr h="1249579">
                <a:tc>
                  <a:txBody>
                    <a:bodyPr/>
                    <a:lstStyle/>
                    <a:p>
                      <a:pPr>
                        <a:buNone/>
                      </a:pPr>
                      <a:r>
                        <a:rPr lang="en-US" dirty="0"/>
                        <a:t>A11-A12 (2 bits)</a:t>
                      </a:r>
                    </a:p>
                  </a:txBody>
                  <a:tcPr anchor="ctr">
                    <a:lnL>
                      <a:noFill/>
                    </a:lnL>
                    <a:lnR>
                      <a:noFill/>
                    </a:lnR>
                    <a:lnT>
                      <a:noFill/>
                    </a:lnT>
                    <a:lnB>
                      <a:noFill/>
                    </a:lnB>
                    <a:noFill/>
                  </a:tcPr>
                </a:tc>
                <a:tc>
                  <a:txBody>
                    <a:bodyPr/>
                    <a:lstStyle/>
                    <a:p>
                      <a:pPr>
                        <a:buNone/>
                      </a:pPr>
                      <a:r>
                        <a:rPr lang="en-US"/>
                        <a:t>Chip select lines (to select 1 of 4 chips)</a:t>
                      </a:r>
                    </a:p>
                  </a:txBody>
                  <a:tcPr anchor="ctr">
                    <a:lnL>
                      <a:noFill/>
                    </a:lnL>
                    <a:lnR>
                      <a:noFill/>
                    </a:lnR>
                    <a:lnT>
                      <a:noFill/>
                    </a:lnT>
                    <a:lnB>
                      <a:noFill/>
                    </a:lnB>
                    <a:noFill/>
                  </a:tcPr>
                </a:tc>
                <a:extLst>
                  <a:ext uri="{0D108BD9-81ED-4DB2-BD59-A6C34878D82A}">
                    <a16:rowId xmlns:a16="http://schemas.microsoft.com/office/drawing/2014/main" val="283794081"/>
                  </a:ext>
                </a:extLst>
              </a:tr>
              <a:tr h="1249579">
                <a:tc>
                  <a:txBody>
                    <a:bodyPr/>
                    <a:lstStyle/>
                    <a:p>
                      <a:pPr>
                        <a:buNone/>
                      </a:pPr>
                      <a:r>
                        <a:rPr lang="en-US"/>
                        <a:t>A13-A15 (3 bits)</a:t>
                      </a:r>
                    </a:p>
                  </a:txBody>
                  <a:tcPr anchor="ctr">
                    <a:lnL>
                      <a:noFill/>
                    </a:lnL>
                    <a:lnR>
                      <a:noFill/>
                    </a:lnR>
                    <a:lnT>
                      <a:noFill/>
                    </a:lnT>
                    <a:lnB>
                      <a:noFill/>
                    </a:lnB>
                    <a:noFill/>
                  </a:tcPr>
                </a:tc>
                <a:tc>
                  <a:txBody>
                    <a:bodyPr/>
                    <a:lstStyle/>
                    <a:p>
                      <a:pPr>
                        <a:buNone/>
                      </a:pPr>
                      <a:r>
                        <a:rPr lang="en-US" dirty="0"/>
                        <a:t>Used for address decoding to enable the module</a:t>
                      </a:r>
                    </a:p>
                  </a:txBody>
                  <a:tcPr anchor="ctr">
                    <a:lnL>
                      <a:noFill/>
                    </a:lnL>
                    <a:lnR>
                      <a:noFill/>
                    </a:lnR>
                    <a:lnT>
                      <a:noFill/>
                    </a:lnT>
                    <a:lnB>
                      <a:noFill/>
                    </a:lnB>
                    <a:noFill/>
                  </a:tcPr>
                </a:tc>
                <a:extLst>
                  <a:ext uri="{0D108BD9-81ED-4DB2-BD59-A6C34878D82A}">
                    <a16:rowId xmlns:a16="http://schemas.microsoft.com/office/drawing/2014/main" val="363035347"/>
                  </a:ext>
                </a:extLst>
              </a:tr>
            </a:tbl>
          </a:graphicData>
        </a:graphic>
      </p:graphicFrame>
    </p:spTree>
    <p:extLst>
      <p:ext uri="{BB962C8B-B14F-4D97-AF65-F5344CB8AC3E}">
        <p14:creationId xmlns:p14="http://schemas.microsoft.com/office/powerpoint/2010/main" val="3755197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41D3D-4023-A627-FFE8-2A62E75671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FEB5C4-1471-E2A5-B027-42B17CF51E5E}"/>
              </a:ext>
            </a:extLst>
          </p:cNvPr>
          <p:cNvSpPr>
            <a:spLocks noGrp="1"/>
          </p:cNvSpPr>
          <p:nvPr>
            <p:ph idx="1"/>
          </p:nvPr>
        </p:nvSpPr>
        <p:spPr>
          <a:xfrm>
            <a:off x="239349" y="1412776"/>
            <a:ext cx="11713302" cy="4837900"/>
          </a:xfrm>
        </p:spPr>
        <p:txBody>
          <a:bodyPr>
            <a:noAutofit/>
          </a:bodyPr>
          <a:lstStyle/>
          <a:p>
            <a:r>
              <a:rPr lang="en-US" sz="1800" b="1" dirty="0"/>
              <a:t>Step 3: Address Decoding Logic</a:t>
            </a:r>
          </a:p>
          <a:p>
            <a:r>
              <a:rPr lang="en-US" sz="1800" b="1" dirty="0"/>
              <a:t>Module Enable Logic</a:t>
            </a:r>
          </a:p>
          <a:p>
            <a:r>
              <a:rPr lang="en-US" sz="1800" dirty="0"/>
              <a:t>For the address range A000H-BFFFH:</a:t>
            </a:r>
          </a:p>
          <a:p>
            <a:r>
              <a:rPr lang="en-US" sz="1800" dirty="0"/>
              <a:t>A15 A14 A13 = </a:t>
            </a:r>
            <a:r>
              <a:rPr lang="en-US" sz="1800" b="1" dirty="0"/>
              <a:t>101</a:t>
            </a:r>
            <a:r>
              <a:rPr lang="en-US" sz="1800" dirty="0"/>
              <a:t> (binary) for addresses A000H-BFFFH</a:t>
            </a:r>
          </a:p>
          <a:p>
            <a:r>
              <a:rPr lang="en-US" sz="1800" dirty="0"/>
              <a:t>We need to decode these three bits to generate a module enable signal.</a:t>
            </a:r>
          </a:p>
          <a:p>
            <a:r>
              <a:rPr lang="en-US" sz="1800" b="1" dirty="0"/>
              <a:t>Decoding equation:</a:t>
            </a:r>
            <a:endParaRPr lang="en-US" sz="1800" dirty="0"/>
          </a:p>
          <a:p>
            <a:r>
              <a:rPr lang="en-US" sz="1800" dirty="0"/>
              <a:t>Module Enable = A15 · A̅14 · A13 (A15 AND NOT A14 AND A13)</a:t>
            </a:r>
          </a:p>
          <a:p>
            <a:r>
              <a:rPr lang="en-US" sz="1800" b="1" dirty="0"/>
              <a:t>Chip Select Logic</a:t>
            </a:r>
          </a:p>
          <a:p>
            <a:r>
              <a:rPr lang="en-US" sz="1800" dirty="0"/>
              <a:t>A11 and A12 are used to select one of the four 2K×8 chips:</a:t>
            </a:r>
          </a:p>
          <a:p>
            <a:r>
              <a:rPr lang="en-US" sz="1800" dirty="0"/>
              <a:t>We can use a </a:t>
            </a:r>
            <a:r>
              <a:rPr lang="en-US" sz="1800" b="1" dirty="0"/>
              <a:t>2-to-4 decoder</a:t>
            </a:r>
            <a:r>
              <a:rPr lang="en-US" sz="1800" dirty="0"/>
              <a:t> (like 74139 or 74155) to generate the four chip select signals.</a:t>
            </a:r>
          </a:p>
          <a:p>
            <a:endParaRPr lang="en-US" sz="1800" dirty="0"/>
          </a:p>
          <a:p>
            <a:endParaRPr lang="en-US" sz="1800" dirty="0"/>
          </a:p>
          <a:p>
            <a:endParaRPr lang="en-US" sz="2400" dirty="0"/>
          </a:p>
        </p:txBody>
      </p:sp>
    </p:spTree>
    <p:extLst>
      <p:ext uri="{BB962C8B-B14F-4D97-AF65-F5344CB8AC3E}">
        <p14:creationId xmlns:p14="http://schemas.microsoft.com/office/powerpoint/2010/main" val="13344135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F4726-B5F0-D26C-F1B9-54291701F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16DB5-0845-378F-1FEE-CFDE9B50A1BF}"/>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2F4D3381-DBD1-B7DF-920B-1A98D7DAEE2F}"/>
              </a:ext>
            </a:extLst>
          </p:cNvPr>
          <p:cNvSpPr>
            <a:spLocks noGrp="1"/>
          </p:cNvSpPr>
          <p:nvPr>
            <p:ph idx="1"/>
          </p:nvPr>
        </p:nvSpPr>
        <p:spPr/>
        <p:txBody>
          <a:bodyPr>
            <a:normAutofit/>
          </a:bodyPr>
          <a:lstStyle/>
          <a:p>
            <a:r>
              <a:rPr lang="en-US" sz="2400" b="1" dirty="0"/>
              <a:t>Step 4: Circuit Design</a:t>
            </a:r>
          </a:p>
          <a:p>
            <a:r>
              <a:rPr lang="en-US" sz="2400" b="1" dirty="0"/>
              <a:t>Circuit Components</a:t>
            </a:r>
          </a:p>
          <a:p>
            <a:r>
              <a:rPr lang="en-US" sz="2400" b="1" dirty="0"/>
              <a:t>Four 2K×8 RAM chips</a:t>
            </a:r>
            <a:r>
              <a:rPr lang="en-US" sz="2400" dirty="0"/>
              <a:t> (e.g., 6116 or similar)</a:t>
            </a:r>
          </a:p>
          <a:p>
            <a:r>
              <a:rPr lang="en-US" sz="2400" b="1" dirty="0"/>
              <a:t>One 2-to-4 decoder</a:t>
            </a:r>
            <a:r>
              <a:rPr lang="en-US" sz="2400" dirty="0"/>
              <a:t> (74139)</a:t>
            </a:r>
          </a:p>
          <a:p>
            <a:r>
              <a:rPr lang="en-US" sz="2400" b="1" dirty="0"/>
              <a:t>One 3-input NAND gate</a:t>
            </a:r>
            <a:r>
              <a:rPr lang="en-US" sz="2400" dirty="0"/>
              <a:t> (74LS10) or discrete logic gates</a:t>
            </a:r>
          </a:p>
          <a:p>
            <a:r>
              <a:rPr lang="en-US" sz="2400" b="1" dirty="0"/>
              <a:t>Address and data bus connections</a:t>
            </a:r>
          </a:p>
          <a:p>
            <a:pPr marL="0" indent="0">
              <a:buNone/>
            </a:pPr>
            <a:r>
              <a:rPr lang="en-US" sz="2400" b="1" dirty="0"/>
              <a:t>Summary</a:t>
            </a:r>
          </a:p>
          <a:p>
            <a:pPr marL="0" indent="0">
              <a:buNone/>
            </a:pPr>
            <a:r>
              <a:rPr lang="en-US" sz="2400" dirty="0"/>
              <a:t>This design successfully creates an 8K×8 RAM module using four 2K×8 RAM chips. The module occupies the address range A000H to BFFFH in a system with a 16-bit address bus</a:t>
            </a:r>
            <a:endParaRPr lang="en-US" sz="2400" b="1" dirty="0"/>
          </a:p>
          <a:p>
            <a:endParaRPr lang="en-US" sz="2400" dirty="0"/>
          </a:p>
          <a:p>
            <a:endParaRPr lang="en-US" sz="2400" dirty="0"/>
          </a:p>
        </p:txBody>
      </p:sp>
    </p:spTree>
    <p:extLst>
      <p:ext uri="{BB962C8B-B14F-4D97-AF65-F5344CB8AC3E}">
        <p14:creationId xmlns:p14="http://schemas.microsoft.com/office/powerpoint/2010/main" val="1950783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759B6-6582-F3F0-504B-3156FF96321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BD43B10-5E71-34BE-BA92-D9F9A05D884D}"/>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3951817" y="1412875"/>
            <a:ext cx="4288367" cy="4824413"/>
          </a:xfrm>
        </p:spPr>
      </p:pic>
    </p:spTree>
    <p:extLst>
      <p:ext uri="{BB962C8B-B14F-4D97-AF65-F5344CB8AC3E}">
        <p14:creationId xmlns:p14="http://schemas.microsoft.com/office/powerpoint/2010/main" val="4093099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val="581640726"/>
              </p:ext>
            </p:extLst>
          </p:nvPr>
        </p:nvGraphicFramePr>
        <p:xfrm>
          <a:off x="1824789" y="1430529"/>
          <a:ext cx="8462211" cy="4716272"/>
        </p:xfrm>
        <a:graphic>
          <a:graphicData uri="http://schemas.openxmlformats.org/presentationml/2006/ole">
            <mc:AlternateContent xmlns:mc="http://schemas.openxmlformats.org/markup-compatibility/2006">
              <mc:Choice xmlns:v="urn:schemas-microsoft-com:vml" Requires="v">
                <p:oleObj name="Visio" r:id="rId2" imgW="8980372" imgH="5094459" progId="Visio.Drawing.11">
                  <p:embed/>
                </p:oleObj>
              </mc:Choice>
              <mc:Fallback>
                <p:oleObj name="Visio" r:id="rId2" imgW="8980372" imgH="5094459" progId="Visio.Drawing.11">
                  <p:embed/>
                  <p:pic>
                    <p:nvPicPr>
                      <p:cNvPr id="0" name=""/>
                      <p:cNvPicPr>
                        <a:picLocks noChangeAspect="1" noChangeArrowheads="1"/>
                      </p:cNvPicPr>
                      <p:nvPr/>
                    </p:nvPicPr>
                    <p:blipFill>
                      <a:blip r:embed="rId3"/>
                      <a:srcRect/>
                      <a:stretch>
                        <a:fillRect/>
                      </a:stretch>
                    </p:blipFill>
                    <p:spPr bwMode="auto">
                      <a:xfrm>
                        <a:off x="1824789" y="1430529"/>
                        <a:ext cx="8462211" cy="471627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621720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58558-2368-DC86-1A18-67F8F7088454}"/>
              </a:ext>
            </a:extLst>
          </p:cNvPr>
          <p:cNvSpPr>
            <a:spLocks noGrp="1"/>
          </p:cNvSpPr>
          <p:nvPr>
            <p:ph type="title"/>
          </p:nvPr>
        </p:nvSpPr>
        <p:spPr/>
        <p:txBody>
          <a:bodyPr/>
          <a:lstStyle/>
          <a:p>
            <a:pPr algn="ctr"/>
            <a:r>
              <a:rPr lang="en-US" dirty="0"/>
              <a:t> Classwork</a:t>
            </a:r>
          </a:p>
        </p:txBody>
      </p:sp>
      <p:sp>
        <p:nvSpPr>
          <p:cNvPr id="3" name="Content Placeholder 2">
            <a:extLst>
              <a:ext uri="{FF2B5EF4-FFF2-40B4-BE49-F238E27FC236}">
                <a16:creationId xmlns:a16="http://schemas.microsoft.com/office/drawing/2014/main" id="{8940F86B-7A39-12A4-B33C-084F6A004733}"/>
              </a:ext>
            </a:extLst>
          </p:cNvPr>
          <p:cNvSpPr>
            <a:spLocks noGrp="1"/>
          </p:cNvSpPr>
          <p:nvPr>
            <p:ph idx="1"/>
          </p:nvPr>
        </p:nvSpPr>
        <p:spPr/>
        <p:txBody>
          <a:bodyPr>
            <a:normAutofit/>
          </a:bodyPr>
          <a:lstStyle/>
          <a:p>
            <a:r>
              <a:rPr lang="en-US" sz="2800" dirty="0"/>
              <a:t>1. Design a 16K×8 RAM module using 4K×8 RAM chips. The module should be connected to an 8-bit processor with a 16-bit address bus, and occupy the address range starting from the address 8000H. Show the circuit and the memory map</a:t>
            </a:r>
          </a:p>
          <a:p>
            <a:r>
              <a:rPr lang="en-US" sz="2800" dirty="0"/>
              <a:t>2. Design a 32K×8 RAM module using 8K×8 RAM chips. The module should be connected to an 8-bit processor with a 16-bit address bus, and occupy the address range starting from the address C000H. Show the circuit and the memory map.</a:t>
            </a:r>
          </a:p>
        </p:txBody>
      </p:sp>
    </p:spTree>
    <p:extLst>
      <p:ext uri="{BB962C8B-B14F-4D97-AF65-F5344CB8AC3E}">
        <p14:creationId xmlns:p14="http://schemas.microsoft.com/office/powerpoint/2010/main" val="292139751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ppt968.tmp</Template>
  <TotalTime>2770</TotalTime>
  <Words>3039</Words>
  <Application>Microsoft Office PowerPoint</Application>
  <PresentationFormat>Widescreen</PresentationFormat>
  <Paragraphs>179</Paragraphs>
  <Slides>35</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35</vt:i4>
      </vt:variant>
    </vt:vector>
  </HeadingPairs>
  <TitlesOfParts>
    <vt:vector size="45" baseType="lpstr">
      <vt:lpstr>Arial</vt:lpstr>
      <vt:lpstr>Calibri</vt:lpstr>
      <vt:lpstr>Rockwell</vt:lpstr>
      <vt:lpstr>Rockwell Condensed</vt:lpstr>
      <vt:lpstr>Symbol</vt:lpstr>
      <vt:lpstr>Times New Roman</vt:lpstr>
      <vt:lpstr>Wingdings</vt:lpstr>
      <vt:lpstr>1_Office Theme</vt:lpstr>
      <vt:lpstr>Visio</vt:lpstr>
      <vt:lpstr>VISIO</vt:lpstr>
      <vt:lpstr>Module 7:Memory interfacing and Address Decoding</vt:lpstr>
      <vt:lpstr>Topic</vt:lpstr>
      <vt:lpstr>Memory </vt:lpstr>
      <vt:lpstr>Memory notes</vt:lpstr>
      <vt:lpstr>Memory notes</vt:lpstr>
      <vt:lpstr>Data Lines</vt:lpstr>
      <vt:lpstr>Control Connection</vt:lpstr>
      <vt:lpstr>Memory Interfacing</vt:lpstr>
      <vt:lpstr>Diagram of Data bus model</vt:lpstr>
      <vt:lpstr>Memory interfacing (continued)</vt:lpstr>
      <vt:lpstr>Table showing bus cycles and memory access</vt:lpstr>
      <vt:lpstr>Bus cycle explained</vt:lpstr>
      <vt:lpstr>Data transfer</vt:lpstr>
      <vt:lpstr>Data Transfer</vt:lpstr>
      <vt:lpstr>Data transfer (16 bit or word transfer)</vt:lpstr>
      <vt:lpstr>16 bit Data bus odd word transfer</vt:lpstr>
      <vt:lpstr>Memory read</vt:lpstr>
      <vt:lpstr>Memory write</vt:lpstr>
      <vt:lpstr>The process of accessing memory involves these steps:</vt:lpstr>
      <vt:lpstr>Address Decoding</vt:lpstr>
      <vt:lpstr>Simplified memory map of 8086-DATS </vt:lpstr>
      <vt:lpstr>I/O Interfacing</vt:lpstr>
      <vt:lpstr>Bus timing</vt:lpstr>
      <vt:lpstr>Bus Timing Continues</vt:lpstr>
      <vt:lpstr>I/O instructions</vt:lpstr>
      <vt:lpstr>Address size expansion</vt:lpstr>
      <vt:lpstr>Address Size Expansion: (32X4 RAM module using 8X4 RAM chips)</vt:lpstr>
      <vt:lpstr>Design an 8KX8 RAM module using 2KX8 RAM chips. The module should be connected on an 8-bit processor with a 16-bit address bus, and occupy the address range starting from the address A000. Show the circuit and the memory map. </vt:lpstr>
      <vt:lpstr>Explanation</vt:lpstr>
      <vt:lpstr>Explanation</vt:lpstr>
      <vt:lpstr>PowerPoint Presentation</vt:lpstr>
      <vt:lpstr>PowerPoint Presentation</vt:lpstr>
      <vt:lpstr>PowerPoint Presentation</vt:lpstr>
      <vt:lpstr>PowerPoint Presentation</vt:lpstr>
      <vt:lpstr> Classwork</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7:Memory interfacing and Address Decoding</dc:title>
  <dc:creator>Ruyi</dc:creator>
  <cp:lastModifiedBy>PC</cp:lastModifiedBy>
  <cp:revision>33</cp:revision>
  <dcterms:created xsi:type="dcterms:W3CDTF">2016-03-28T07:33:40Z</dcterms:created>
  <dcterms:modified xsi:type="dcterms:W3CDTF">2025-11-19T08:53:57Z</dcterms:modified>
</cp:coreProperties>
</file>